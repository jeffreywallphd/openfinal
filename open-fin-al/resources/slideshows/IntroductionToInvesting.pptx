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68" r:id="rId4"/>
    <p:sldId id="260" r:id="rId5"/>
    <p:sldId id="259" r:id="rId6"/>
    <p:sldId id="269" r:id="rId7"/>
    <p:sldId id="270" r:id="rId8"/>
    <p:sldId id="271" r:id="rId9"/>
    <p:sldId id="272" r:id="rId10"/>
    <p:sldId id="27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464" y="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16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30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453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0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85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47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20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9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8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73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64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126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599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198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992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236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368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Investing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3600" dirty="0"/>
              <a:t>What is investing?</a:t>
            </a:r>
            <a:endParaRPr sz="3600" dirty="0"/>
          </a:p>
          <a:p>
            <a:pPr lvl="1"/>
            <a:r>
              <a:rPr lang="en-US" sz="3600" dirty="0"/>
              <a:t>Why people invest</a:t>
            </a:r>
          </a:p>
          <a:p>
            <a:pPr lvl="1"/>
            <a:r>
              <a:rPr lang="en-US" sz="3600" dirty="0"/>
              <a:t>Risk vs. reward</a:t>
            </a:r>
          </a:p>
          <a:p>
            <a:pPr lvl="1"/>
            <a:r>
              <a:rPr lang="en-US" sz="3600" dirty="0"/>
              <a:t>Common investment types</a:t>
            </a:r>
          </a:p>
          <a:p>
            <a:pPr lvl="1"/>
            <a:r>
              <a:rPr lang="en-US" sz="3600" dirty="0"/>
              <a:t>What is an investment portfolio?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Investing?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sz="3600" dirty="0"/>
              <a:t>Using money to buy assets</a:t>
            </a:r>
            <a:r>
              <a:rPr lang="en-US" sz="3600" dirty="0"/>
              <a:t> that can grow in value</a:t>
            </a:r>
            <a:endParaRPr sz="3600" dirty="0"/>
          </a:p>
          <a:p>
            <a:pPr lvl="1"/>
            <a:r>
              <a:rPr lang="en-US" sz="3600" dirty="0"/>
              <a:t>The goal is to build wealth over time</a:t>
            </a:r>
          </a:p>
          <a:p>
            <a:pPr lvl="1"/>
            <a:r>
              <a:rPr lang="en-US" sz="3600" dirty="0"/>
              <a:t>Wealth grows by earning and reinvesting gains </a:t>
            </a:r>
          </a:p>
          <a:p>
            <a:pPr lvl="1"/>
            <a:r>
              <a:rPr lang="en-US" sz="3600" dirty="0"/>
              <a:t>Investment always involves some risk</a:t>
            </a:r>
          </a:p>
          <a:p>
            <a:pPr lvl="1"/>
            <a:r>
              <a:rPr lang="en-US" sz="3600" dirty="0"/>
              <a:t>Smart investment strategies help to manage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D66E6-B18B-6321-B856-1EAC13D93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FD5B-3C94-59C1-2827-169E3A2B9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People invest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2332B-9F3F-406B-5501-621751C9E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3600" dirty="0"/>
              <a:t>To give money time to grow</a:t>
            </a:r>
          </a:p>
          <a:p>
            <a:pPr lvl="1"/>
            <a:r>
              <a:rPr lang="en-US" sz="3600" dirty="0"/>
              <a:t>To protect money against inflation</a:t>
            </a:r>
          </a:p>
          <a:p>
            <a:pPr lvl="1"/>
            <a:r>
              <a:rPr lang="en-US" sz="3600" dirty="0"/>
              <a:t>To prepare for comfort in retirement</a:t>
            </a:r>
          </a:p>
          <a:p>
            <a:pPr lvl="1"/>
            <a:r>
              <a:rPr lang="en-US" sz="3600" dirty="0"/>
              <a:t>To prepare for large expenses like college</a:t>
            </a:r>
          </a:p>
          <a:p>
            <a:pPr lvl="1"/>
            <a:r>
              <a:rPr lang="en-US" sz="3600" dirty="0"/>
              <a:t>To leave a lasting financial legacy </a:t>
            </a:r>
          </a:p>
        </p:txBody>
      </p:sp>
    </p:spTree>
    <p:extLst>
      <p:ext uri="{BB962C8B-B14F-4D97-AF65-F5344CB8AC3E}">
        <p14:creationId xmlns:p14="http://schemas.microsoft.com/office/powerpoint/2010/main" val="2047319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vs Reward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3600" dirty="0"/>
              <a:t>Higher reward often comes with higher risk</a:t>
            </a:r>
            <a:endParaRPr sz="3600" dirty="0"/>
          </a:p>
          <a:p>
            <a:pPr lvl="1"/>
            <a:r>
              <a:rPr lang="en-US" sz="3600" dirty="0"/>
              <a:t>Low-risk investments offer small, stable gains</a:t>
            </a:r>
          </a:p>
          <a:p>
            <a:pPr lvl="1"/>
            <a:r>
              <a:rPr lang="en-US" sz="3600" dirty="0"/>
              <a:t>Diversifying your investments can reduce risk</a:t>
            </a:r>
          </a:p>
          <a:p>
            <a:pPr lvl="1"/>
            <a:r>
              <a:rPr lang="en-US" sz="3600" dirty="0"/>
              <a:t>Investment time reduces short-term risks</a:t>
            </a:r>
          </a:p>
          <a:p>
            <a:pPr lvl="1"/>
            <a:r>
              <a:rPr lang="en-US" sz="3600" dirty="0"/>
              <a:t>You should know your preference for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Investment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sz="3600" dirty="0"/>
              <a:t>Stocks</a:t>
            </a:r>
          </a:p>
          <a:p>
            <a:pPr lvl="1"/>
            <a:r>
              <a:rPr sz="3600" dirty="0"/>
              <a:t>Bonds</a:t>
            </a:r>
          </a:p>
          <a:p>
            <a:pPr lvl="1"/>
            <a:r>
              <a:rPr sz="3600" dirty="0"/>
              <a:t>ETFs &amp; Mutual Funds</a:t>
            </a:r>
          </a:p>
          <a:p>
            <a:pPr lvl="1"/>
            <a:r>
              <a:rPr sz="3600" dirty="0"/>
              <a:t>Real Estate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E049B-7389-FFCF-58B5-657690F5D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DD5C6-732B-7D60-9A52-2B2ACE9C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Stocks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4B7A4-A89D-8A84-E917-2DCEE94E6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3600" dirty="0"/>
              <a:t>Stocks represent partial ownership in a company</a:t>
            </a:r>
          </a:p>
          <a:p>
            <a:pPr lvl="1"/>
            <a:r>
              <a:rPr lang="en-US" sz="3600" dirty="0"/>
              <a:t>Their value changes with company performance</a:t>
            </a:r>
          </a:p>
          <a:p>
            <a:pPr lvl="1"/>
            <a:r>
              <a:rPr lang="en-US" sz="3600" dirty="0"/>
              <a:t>They also change based on supply and demand</a:t>
            </a:r>
          </a:p>
          <a:p>
            <a:pPr lvl="1"/>
            <a:r>
              <a:rPr lang="en-US" sz="3600" dirty="0"/>
              <a:t>Returns are earned through price increases</a:t>
            </a:r>
          </a:p>
          <a:p>
            <a:pPr lvl="1"/>
            <a:r>
              <a:rPr lang="en-US" sz="3600" dirty="0"/>
              <a:t>Some stocks may pay dividends as well</a:t>
            </a:r>
          </a:p>
        </p:txBody>
      </p:sp>
    </p:spTree>
    <p:extLst>
      <p:ext uri="{BB962C8B-B14F-4D97-AF65-F5344CB8AC3E}">
        <p14:creationId xmlns:p14="http://schemas.microsoft.com/office/powerpoint/2010/main" val="1166215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17EAE-4F9C-C04B-8F12-96E50FF25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C871D-2530-FE35-539C-128E0F4CA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Bonds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F1BE5-9ECB-C846-CEA4-4E6D96098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3600" dirty="0"/>
              <a:t>Bonds are loans you give to governments or companies</a:t>
            </a:r>
          </a:p>
          <a:p>
            <a:pPr lvl="1"/>
            <a:r>
              <a:rPr lang="en-US" sz="3600" dirty="0"/>
              <a:t>They pay you interest for the money you loan</a:t>
            </a:r>
          </a:p>
          <a:p>
            <a:pPr lvl="1"/>
            <a:r>
              <a:rPr lang="en-US" sz="3600" dirty="0"/>
              <a:t>Bond prices can change as interest rates change</a:t>
            </a:r>
          </a:p>
          <a:p>
            <a:pPr lvl="1"/>
            <a:r>
              <a:rPr lang="en-US" sz="3600" dirty="0"/>
              <a:t>They are generally lower risk than stocks</a:t>
            </a:r>
          </a:p>
        </p:txBody>
      </p:sp>
    </p:spTree>
    <p:extLst>
      <p:ext uri="{BB962C8B-B14F-4D97-AF65-F5344CB8AC3E}">
        <p14:creationId xmlns:p14="http://schemas.microsoft.com/office/powerpoint/2010/main" val="2548161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80182-5B8A-C7A2-3B23-F8B542D2F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55049-6057-C8A1-978B-7D93ABD39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ETFs and Mutual Funds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87CE4-0054-0701-C050-68B00B17F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3600" dirty="0"/>
              <a:t>Pool money from many investors to buy assets</a:t>
            </a:r>
          </a:p>
          <a:p>
            <a:pPr lvl="1"/>
            <a:r>
              <a:rPr lang="en-US" sz="3600" dirty="0"/>
              <a:t>Contain diversified assets (e.g., stocks &amp; bonds)</a:t>
            </a:r>
          </a:p>
          <a:p>
            <a:pPr lvl="1"/>
            <a:r>
              <a:rPr lang="en-US" sz="3600" dirty="0"/>
              <a:t>Exchange traded funds (ETFs) trade like stocks</a:t>
            </a:r>
          </a:p>
          <a:p>
            <a:pPr lvl="1"/>
            <a:r>
              <a:rPr lang="en-US" sz="3600" dirty="0"/>
              <a:t>Mutual funds usually trade once per day</a:t>
            </a:r>
          </a:p>
          <a:p>
            <a:pPr lvl="1"/>
            <a:r>
              <a:rPr lang="en-US" sz="3600" dirty="0"/>
              <a:t>Both are often lower risk than individual stocks</a:t>
            </a:r>
          </a:p>
        </p:txBody>
      </p:sp>
    </p:spTree>
    <p:extLst>
      <p:ext uri="{BB962C8B-B14F-4D97-AF65-F5344CB8AC3E}">
        <p14:creationId xmlns:p14="http://schemas.microsoft.com/office/powerpoint/2010/main" val="142552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FF44D-009A-FD13-14F8-D2557CD3A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DC920-F0B1-C403-488C-FD3BB71B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Real Estate to the mix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CD318-AB14-72A3-05D5-FFC748685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3600" dirty="0"/>
              <a:t>Property can grow in value over time</a:t>
            </a:r>
          </a:p>
          <a:p>
            <a:pPr lvl="1"/>
            <a:r>
              <a:rPr lang="en-US" sz="3600" dirty="0"/>
              <a:t>It can generate income through rents and leases</a:t>
            </a:r>
          </a:p>
          <a:p>
            <a:pPr lvl="1"/>
            <a:r>
              <a:rPr lang="en-US" sz="3600" dirty="0"/>
              <a:t>Can diversify portfolios beyond stocks and bonds</a:t>
            </a:r>
          </a:p>
          <a:p>
            <a:pPr lvl="1"/>
            <a:r>
              <a:rPr lang="en-US" sz="3600" dirty="0"/>
              <a:t>Often stable, but can require large investments</a:t>
            </a:r>
          </a:p>
          <a:p>
            <a:pPr lvl="1"/>
            <a:r>
              <a:rPr lang="en-US" sz="3600" dirty="0"/>
              <a:t>REITs are real estate trusts that trade like stocks</a:t>
            </a:r>
          </a:p>
        </p:txBody>
      </p:sp>
    </p:spTree>
    <p:extLst>
      <p:ext uri="{BB962C8B-B14F-4D97-AF65-F5344CB8AC3E}">
        <p14:creationId xmlns:p14="http://schemas.microsoft.com/office/powerpoint/2010/main" val="3500309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41430-607B-E46C-DCEE-ED9DB562A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F28C3-656E-8681-3090-30247DAF9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Investment Portfolio 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B2845-3CB6-D784-71B0-3338F9EC0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3600" dirty="0"/>
              <a:t>A portfolio is a mix of investment assets</a:t>
            </a:r>
          </a:p>
          <a:p>
            <a:pPr lvl="1"/>
            <a:r>
              <a:rPr lang="en-US" sz="3600" dirty="0"/>
              <a:t>It is often diversified to manage risk</a:t>
            </a:r>
          </a:p>
          <a:p>
            <a:pPr lvl="1"/>
            <a:r>
              <a:rPr lang="en-US" sz="3600" dirty="0"/>
              <a:t>Employer-sponsored retirement plans, like 401(k)’s, contain pre-built portfolios</a:t>
            </a:r>
          </a:p>
          <a:p>
            <a:pPr lvl="1"/>
            <a:r>
              <a:rPr lang="en-US" sz="3600" dirty="0"/>
              <a:t>You can also build your own portfolio</a:t>
            </a:r>
          </a:p>
        </p:txBody>
      </p:sp>
    </p:spTree>
    <p:extLst>
      <p:ext uri="{BB962C8B-B14F-4D97-AF65-F5344CB8AC3E}">
        <p14:creationId xmlns:p14="http://schemas.microsoft.com/office/powerpoint/2010/main" val="3533930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0BAB1-43A0-8CBE-88A2-940BA2FC7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1873D-806B-8548-2616-DF2085C9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Steps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B6DCE-7843-B0EC-73B7-3A9319415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3600" dirty="0"/>
              <a:t>Set clear financial goals for your future</a:t>
            </a:r>
          </a:p>
          <a:p>
            <a:pPr lvl="1"/>
            <a:r>
              <a:rPr lang="en-US" sz="3600" dirty="0"/>
              <a:t>See if your employer offers a retirement plan and if they match your contributions to the plan</a:t>
            </a:r>
          </a:p>
          <a:p>
            <a:pPr lvl="1"/>
            <a:r>
              <a:rPr lang="en-US" sz="3600" dirty="0"/>
              <a:t>For personal portfolios, choose a brokerage firm</a:t>
            </a:r>
          </a:p>
          <a:p>
            <a:pPr lvl="1"/>
            <a:r>
              <a:rPr lang="en-US" sz="3600" dirty="0"/>
              <a:t>Start small and invest consistently</a:t>
            </a:r>
          </a:p>
        </p:txBody>
      </p:sp>
    </p:spTree>
    <p:extLst>
      <p:ext uri="{BB962C8B-B14F-4D97-AF65-F5344CB8AC3E}">
        <p14:creationId xmlns:p14="http://schemas.microsoft.com/office/powerpoint/2010/main" val="28206260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132</TotalTime>
  <Words>391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Celestial</vt:lpstr>
      <vt:lpstr>Introduction to Investing</vt:lpstr>
      <vt:lpstr>What Is Investing?</vt:lpstr>
      <vt:lpstr>Why People invest</vt:lpstr>
      <vt:lpstr>Risk vs Reward</vt:lpstr>
      <vt:lpstr>Common Investment Types</vt:lpstr>
      <vt:lpstr>What are Stocks</vt:lpstr>
      <vt:lpstr>What are Bonds</vt:lpstr>
      <vt:lpstr>What are ETFs and Mutual Funds</vt:lpstr>
      <vt:lpstr>Adding Real Estate to the mix</vt:lpstr>
      <vt:lpstr>What is an Investment Portfolio </vt:lpstr>
      <vt:lpstr>First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Jeffrey Wall</cp:lastModifiedBy>
  <cp:revision>18</cp:revision>
  <dcterms:created xsi:type="dcterms:W3CDTF">2013-01-27T09:14:16Z</dcterms:created>
  <dcterms:modified xsi:type="dcterms:W3CDTF">2025-12-08T03:01:05Z</dcterms:modified>
  <cp:category/>
</cp:coreProperties>
</file>