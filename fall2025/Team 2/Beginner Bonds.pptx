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>
            <p:ph type="ctrTitle"/>
          </p:nvPr>
        </p:nvSpPr>
        <p:spPr>
          <a:xfrm>
            <a:off x="1478650" y="1440797"/>
            <a:ext cx="9231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</a:pPr>
            <a:r>
              <a:rPr b="1" lang="en-US" sz="8100">
                <a:latin typeface="Arial"/>
                <a:ea typeface="Arial"/>
                <a:cs typeface="Arial"/>
                <a:sym typeface="Arial"/>
              </a:rPr>
              <a:t>Beginner Bonds</a:t>
            </a:r>
            <a:endParaRPr b="1" sz="8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ld wrinkled hands with some coins" id="93" name="Google Shape;93;p14"/>
          <p:cNvPicPr preferRelativeResize="0"/>
          <p:nvPr/>
        </p:nvPicPr>
        <p:blipFill rotWithShape="1">
          <a:blip r:embed="rId3">
            <a:alphaModFix/>
          </a:blip>
          <a:srcRect b="-2" l="13212" r="34128" t="0"/>
          <a:stretch/>
        </p:blipFill>
        <p:spPr>
          <a:xfrm>
            <a:off x="-1" y="-2"/>
            <a:ext cx="5410198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410197" y="-1"/>
            <a:ext cx="6781802" cy="228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sx="95000" rotWithShape="0" algn="t" dist="152400" sy="95000">
              <a:srgbClr val="000000">
                <a:alpha val="2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type="title"/>
          </p:nvPr>
        </p:nvSpPr>
        <p:spPr>
          <a:xfrm>
            <a:off x="6115317" y="405685"/>
            <a:ext cx="5464968" cy="155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1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. What are Bonds?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6115317" y="2743200"/>
            <a:ext cx="5247340" cy="3496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 </a:t>
            </a:r>
            <a:r>
              <a:rPr b="1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bond</a:t>
            </a: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is like a </a:t>
            </a:r>
            <a:r>
              <a:rPr b="1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loan</a:t>
            </a: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between an investor and a borrower (usually a government or company).</a:t>
            </a:r>
            <a:b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When you buy a bond, you are </a:t>
            </a:r>
            <a:r>
              <a:rPr b="1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lending money</a:t>
            </a: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to the issuer. In return, they promise to: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Pay you regular interest</a:t>
            </a: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(called a coupon)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Return your money</a:t>
            </a: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(the principal or par value) when the bond reaches maturity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8313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type="title"/>
          </p:nvPr>
        </p:nvSpPr>
        <p:spPr>
          <a:xfrm>
            <a:off x="479394" y="1070800"/>
            <a:ext cx="3939688" cy="5583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 New Roman"/>
              <a:buNone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Key Features of Bonds</a:t>
            </a:r>
            <a:endParaRPr/>
          </a:p>
        </p:txBody>
      </p:sp>
      <p:cxnSp>
        <p:nvCxnSpPr>
          <p:cNvPr id="103" name="Google Shape;103;p15"/>
          <p:cNvCxnSpPr/>
          <p:nvPr/>
        </p:nvCxnSpPr>
        <p:spPr>
          <a:xfrm>
            <a:off x="4728053" y="1132114"/>
            <a:ext cx="0" cy="5717573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grpSp>
        <p:nvGrpSpPr>
          <p:cNvPr id="104" name="Google Shape;104;p15"/>
          <p:cNvGrpSpPr/>
          <p:nvPr/>
        </p:nvGrpSpPr>
        <p:grpSpPr>
          <a:xfrm>
            <a:off x="5108535" y="1075166"/>
            <a:ext cx="6245265" cy="5580614"/>
            <a:chOff x="0" y="4366"/>
            <a:chExt cx="6245265" cy="5580614"/>
          </a:xfrm>
        </p:grpSpPr>
        <p:sp>
          <p:nvSpPr>
            <p:cNvPr id="105" name="Google Shape;105;p15"/>
            <p:cNvSpPr/>
            <p:nvPr/>
          </p:nvSpPr>
          <p:spPr>
            <a:xfrm>
              <a:off x="0" y="4366"/>
              <a:ext cx="6245265" cy="930102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281355" y="213639"/>
              <a:ext cx="511556" cy="51155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1074268" y="4366"/>
              <a:ext cx="5170996" cy="930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1074268" y="4366"/>
              <a:ext cx="5170996" cy="930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8425" lIns="98425" spcFirstLastPara="1" rIns="98425" wrap="square" tIns="98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Issuer: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The company or government borrowing the money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0" y="1166994"/>
              <a:ext cx="6245265" cy="930102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281355" y="1376267"/>
              <a:ext cx="511556" cy="51155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1074268" y="1166994"/>
              <a:ext cx="5170996" cy="930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1074268" y="1166994"/>
              <a:ext cx="5170996" cy="930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8425" lIns="98425" spcFirstLastPara="1" rIns="98425" wrap="square" tIns="98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Face Value (Par Value):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The amount you’ll get back at maturity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0" y="2329622"/>
              <a:ext cx="6245265" cy="930102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81355" y="2538895"/>
              <a:ext cx="511556" cy="51155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1074268" y="2329622"/>
              <a:ext cx="5170996" cy="930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1074268" y="2329622"/>
              <a:ext cx="5170996" cy="930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8425" lIns="98425" spcFirstLastPara="1" rIns="98425" wrap="square" tIns="98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Coupon Rate: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The fixed interest rate the bond pays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0" y="3492250"/>
              <a:ext cx="6245265" cy="930102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281355" y="3701523"/>
              <a:ext cx="511556" cy="51155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074268" y="3492250"/>
              <a:ext cx="5170996" cy="930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074268" y="3492250"/>
              <a:ext cx="5170996" cy="930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8425" lIns="98425" spcFirstLastPara="1" rIns="98425" wrap="square" tIns="98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Maturity Date: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When the bond’s face value is repaid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0" y="4654878"/>
              <a:ext cx="6245265" cy="930102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81355" y="4864151"/>
              <a:ext cx="511556" cy="51155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1074268" y="4654878"/>
              <a:ext cx="5170996" cy="930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1074268" y="4654878"/>
              <a:ext cx="5170996" cy="930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8425" lIns="98425" spcFirstLastPara="1" rIns="98425" wrap="square" tIns="98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Price: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Bonds can be bought or sold on the market before maturity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Why People Invest in Bonds</a:t>
            </a:r>
            <a:endParaRPr/>
          </a:p>
        </p:txBody>
      </p:sp>
      <p:sp>
        <p:nvSpPr>
          <p:cNvPr id="131" name="Google Shape;131;p16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Provide </a:t>
            </a:r>
            <a:r>
              <a:rPr b="1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steady income</a:t>
            </a: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from interest payments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Offer </a:t>
            </a:r>
            <a:r>
              <a:rPr b="1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lower risk</a:t>
            </a: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compared to stocks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Used for </a:t>
            </a:r>
            <a:r>
              <a:rPr b="1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diversification</a:t>
            </a: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in investment portfolios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Ideal for </a:t>
            </a:r>
            <a:r>
              <a:rPr b="1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long-term planning</a:t>
            </a: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and stability</a:t>
            </a:r>
            <a:endParaRPr/>
          </a:p>
        </p:txBody>
      </p:sp>
      <p:pic>
        <p:nvPicPr>
          <p:cNvPr descr="A digital balance scale using circles" id="132" name="Google Shape;132;p16"/>
          <p:cNvPicPr preferRelativeResize="0"/>
          <p:nvPr/>
        </p:nvPicPr>
        <p:blipFill rotWithShape="1">
          <a:blip r:embed="rId3">
            <a:alphaModFix/>
          </a:blip>
          <a:srcRect b="1" l="27818" r="25200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7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en-US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Risks of Bonds</a:t>
            </a:r>
            <a:endParaRPr/>
          </a:p>
        </p:txBody>
      </p:sp>
      <p:grpSp>
        <p:nvGrpSpPr>
          <p:cNvPr id="142" name="Google Shape;142;p17"/>
          <p:cNvGrpSpPr/>
          <p:nvPr/>
        </p:nvGrpSpPr>
        <p:grpSpPr>
          <a:xfrm>
            <a:off x="644269" y="2914351"/>
            <a:ext cx="10927402" cy="3092660"/>
            <a:chOff x="213" y="298372"/>
            <a:chExt cx="10927402" cy="3092660"/>
          </a:xfrm>
        </p:grpSpPr>
        <p:sp>
          <p:nvSpPr>
            <p:cNvPr id="143" name="Google Shape;143;p17"/>
            <p:cNvSpPr/>
            <p:nvPr/>
          </p:nvSpPr>
          <p:spPr>
            <a:xfrm>
              <a:off x="213" y="298372"/>
              <a:ext cx="2577217" cy="3092660"/>
            </a:xfrm>
            <a:prstGeom prst="rect">
              <a:avLst/>
            </a:prstGeom>
            <a:solidFill>
              <a:srgbClr val="E97131"/>
            </a:solidFill>
            <a:ln cap="flat" cmpd="sng" w="19050">
              <a:solidFill>
                <a:srgbClr val="E9713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213" y="1535436"/>
              <a:ext cx="2577217" cy="1855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4550" spcFirstLastPara="1" rIns="2545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Even though bonds are safer than stocks, they still have risks: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213" y="298372"/>
              <a:ext cx="2577217" cy="123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213" y="298372"/>
              <a:ext cx="2577217" cy="123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54550" spcFirstLastPara="1" rIns="2545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400"/>
                <a:buFont typeface="Arial"/>
                <a:buNone/>
              </a:pPr>
              <a:r>
                <a:rPr b="0" i="0" lang="en-US" sz="6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2783608" y="298372"/>
              <a:ext cx="2577217" cy="3092660"/>
            </a:xfrm>
            <a:prstGeom prst="rect">
              <a:avLst/>
            </a:prstGeom>
            <a:solidFill>
              <a:srgbClr val="C8BE1E"/>
            </a:solidFill>
            <a:ln cap="flat" cmpd="sng" w="19050">
              <a:solidFill>
                <a:srgbClr val="C8BE1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2783608" y="1535436"/>
              <a:ext cx="2577217" cy="1855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4550" spcFirstLastPara="1" rIns="2545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Interest Rate Risk: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 Bond prices fall when interest rates rise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2783608" y="298372"/>
              <a:ext cx="2577217" cy="123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2783608" y="298372"/>
              <a:ext cx="2577217" cy="123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54550" spcFirstLastPara="1" rIns="2545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400"/>
                <a:buFont typeface="Arial"/>
                <a:buNone/>
              </a:pPr>
              <a:r>
                <a:rPr b="0" i="0" lang="en-US" sz="6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5567003" y="298372"/>
              <a:ext cx="2577217" cy="3092660"/>
            </a:xfrm>
            <a:prstGeom prst="rect">
              <a:avLst/>
            </a:prstGeom>
            <a:solidFill>
              <a:srgbClr val="55971D"/>
            </a:solidFill>
            <a:ln cap="flat" cmpd="sng" w="19050">
              <a:solidFill>
                <a:srgbClr val="55971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5567003" y="1535436"/>
              <a:ext cx="2577217" cy="1855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4550" spcFirstLastPara="1" rIns="2545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Credit Risk: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 The issuer might fail to pay back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5567003" y="298372"/>
              <a:ext cx="2577217" cy="123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5567003" y="298372"/>
              <a:ext cx="2577217" cy="123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54550" spcFirstLastPara="1" rIns="2545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400"/>
                <a:buFont typeface="Arial"/>
                <a:buNone/>
              </a:pPr>
              <a:r>
                <a:rPr b="0" i="0" lang="en-US" sz="6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8350398" y="298372"/>
              <a:ext cx="2577217" cy="3092660"/>
            </a:xfrm>
            <a:prstGeom prst="rect">
              <a:avLst/>
            </a:prstGeom>
            <a:solidFill>
              <a:srgbClr val="186923"/>
            </a:solidFill>
            <a:ln cap="flat" cmpd="sng" w="19050">
              <a:solidFill>
                <a:srgbClr val="1869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8350398" y="1535436"/>
              <a:ext cx="2577217" cy="1855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4550" spcFirstLastPara="1" rIns="2545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Inflation Risk: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 Inflation can reduce the real value of returns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8350398" y="298372"/>
              <a:ext cx="2577217" cy="123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8350398" y="298372"/>
              <a:ext cx="2577217" cy="123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54550" spcFirstLastPara="1" rIns="2545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400"/>
                <a:buFont typeface="Arial"/>
                <a:buNone/>
              </a:pPr>
              <a:r>
                <a:rPr b="0" i="0" lang="en-US" sz="6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 txBox="1"/>
          <p:nvPr>
            <p:ph type="title"/>
          </p:nvPr>
        </p:nvSpPr>
        <p:spPr>
          <a:xfrm>
            <a:off x="838200" y="365125"/>
            <a:ext cx="98422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lay"/>
              <a:buNone/>
            </a:pPr>
            <a:r>
              <a:rPr lang="en-US" sz="5600"/>
              <a:t>Types of Bonds</a:t>
            </a:r>
            <a:endParaRPr/>
          </a:p>
        </p:txBody>
      </p:sp>
      <p:cxnSp>
        <p:nvCxnSpPr>
          <p:cNvPr id="165" name="Google Shape;165;p18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66" name="Google Shape;166;p18"/>
          <p:cNvSpPr/>
          <p:nvPr/>
        </p:nvSpPr>
        <p:spPr>
          <a:xfrm>
            <a:off x="10903882" y="591829"/>
            <a:ext cx="139039" cy="13903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11262662" y="821124"/>
            <a:ext cx="91138" cy="91138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10888342" y="1336268"/>
            <a:ext cx="127714" cy="127714"/>
          </a:xfrm>
          <a:custGeom>
            <a:rect b="b" l="l" r="r" t="t"/>
            <a:pathLst>
              <a:path extrusionOk="0" h="127714" w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18"/>
          <p:cNvGrpSpPr/>
          <p:nvPr/>
        </p:nvGrpSpPr>
        <p:grpSpPr>
          <a:xfrm>
            <a:off x="1407279" y="2812349"/>
            <a:ext cx="9377440" cy="2377890"/>
            <a:chOff x="569079" y="986724"/>
            <a:chExt cx="9377440" cy="2377890"/>
          </a:xfrm>
        </p:grpSpPr>
        <p:sp>
          <p:nvSpPr>
            <p:cNvPr id="170" name="Google Shape;170;p18"/>
            <p:cNvSpPr/>
            <p:nvPr/>
          </p:nvSpPr>
          <p:spPr>
            <a:xfrm>
              <a:off x="973190" y="986724"/>
              <a:ext cx="1264141" cy="1264141"/>
            </a:xfrm>
            <a:prstGeom prst="ellipse">
              <a:avLst/>
            </a:prstGeom>
            <a:solidFill>
              <a:srgbClr val="E97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1242597" y="1256131"/>
              <a:ext cx="725326" cy="72532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569079" y="2644614"/>
              <a:ext cx="207236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8"/>
            <p:cNvSpPr txBox="1"/>
            <p:nvPr/>
          </p:nvSpPr>
          <p:spPr>
            <a:xfrm>
              <a:off x="569079" y="2644614"/>
              <a:ext cx="207236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-US" sz="12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GOVERNMENT BONDS:</a:t>
              </a:r>
              <a:r>
                <a:rPr b="0" i="0" lang="en-US" sz="12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ISSUED BY NATIONAL GOVERNMENTS (E.G., U.S. TREASURY BONDS)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3408216" y="986724"/>
              <a:ext cx="1264141" cy="1264141"/>
            </a:xfrm>
            <a:prstGeom prst="ellipse">
              <a:avLst/>
            </a:prstGeom>
            <a:solidFill>
              <a:srgbClr val="176B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3677623" y="1256131"/>
              <a:ext cx="725326" cy="72532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3004105" y="2644614"/>
              <a:ext cx="207236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3004105" y="2644614"/>
              <a:ext cx="207236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-US" sz="12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CORPORATE BONDS:</a:t>
              </a:r>
              <a:r>
                <a:rPr b="0" i="0" lang="en-US" sz="12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ISSUED BY COMPANIES TO RAISE CAPITAL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5843242" y="986724"/>
              <a:ext cx="1264141" cy="1264141"/>
            </a:xfrm>
            <a:prstGeom prst="ellipse">
              <a:avLst/>
            </a:prstGeom>
            <a:solidFill>
              <a:srgbClr val="0C9E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6112649" y="1256131"/>
              <a:ext cx="725326" cy="72532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5439131" y="2644614"/>
              <a:ext cx="207236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5439131" y="2644614"/>
              <a:ext cx="207236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-US" sz="12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MUNICIPAL BONDS:</a:t>
              </a:r>
              <a:r>
                <a:rPr b="0" i="0" lang="en-US" sz="12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ISSUED BY LOCAL GOVERNMENTS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8278268" y="986724"/>
              <a:ext cx="1264141" cy="1264141"/>
            </a:xfrm>
            <a:prstGeom prst="ellipse">
              <a:avLst/>
            </a:prstGeom>
            <a:solidFill>
              <a:srgbClr val="A02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8547675" y="1256131"/>
              <a:ext cx="725326" cy="72532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7874157" y="2644614"/>
              <a:ext cx="207236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7874157" y="2644614"/>
              <a:ext cx="207236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-US" sz="12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ZERO-COUPON BONDS:</a:t>
              </a:r>
              <a:r>
                <a:rPr b="0" i="0" lang="en-US" sz="12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SOLD AT A DISCOUNT AND PAY THE FULL VALUE ONLY AT MATURITY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</a:rPr>
              <a:t>Bond Maturity Terms</a:t>
            </a:r>
            <a:endParaRPr/>
          </a:p>
        </p:txBody>
      </p:sp>
      <p:grpSp>
        <p:nvGrpSpPr>
          <p:cNvPr id="195" name="Google Shape;195;p19"/>
          <p:cNvGrpSpPr/>
          <p:nvPr/>
        </p:nvGrpSpPr>
        <p:grpSpPr>
          <a:xfrm>
            <a:off x="737501" y="2818181"/>
            <a:ext cx="10740938" cy="3285000"/>
            <a:chOff x="93445" y="202202"/>
            <a:chExt cx="10740938" cy="3285000"/>
          </a:xfrm>
        </p:grpSpPr>
        <p:sp>
          <p:nvSpPr>
            <p:cNvPr id="196" name="Google Shape;196;p19"/>
            <p:cNvSpPr/>
            <p:nvPr/>
          </p:nvSpPr>
          <p:spPr>
            <a:xfrm>
              <a:off x="718664" y="202202"/>
              <a:ext cx="1955812" cy="1955812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1135476" y="619014"/>
              <a:ext cx="1122187" cy="11221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93445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93445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i="0" lang="en-US" sz="25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SHORT-TERM:</a:t>
              </a:r>
              <a:r>
                <a:rPr b="0" i="0" lang="en-US" sz="25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1–3 YEARS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4486008" y="202202"/>
              <a:ext cx="1955812" cy="1955812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4902820" y="619014"/>
              <a:ext cx="1122187" cy="11221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3860789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3860789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i="0" lang="en-US" sz="25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MEDIUM-TERM:</a:t>
              </a:r>
              <a:r>
                <a:rPr b="0" i="0" lang="en-US" sz="25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4–10 YEARS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8253352" y="202202"/>
              <a:ext cx="1955812" cy="1955812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8670164" y="619014"/>
              <a:ext cx="1122187" cy="11221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7628133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7628133" y="27672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i="0" lang="en-US" sz="25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LONG-TERM:</a:t>
              </a:r>
              <a:r>
                <a:rPr b="0" i="0" lang="en-US" sz="25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OVER 10 YEARS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Conclusion</a:t>
            </a:r>
            <a:endParaRPr/>
          </a:p>
        </p:txBody>
      </p:sp>
      <p:sp>
        <p:nvSpPr>
          <p:cNvPr id="214" name="Google Shape;214;p20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Bonds are a key part of any balanced portfolio. They offer steady returns, predictable income, and lower volatility, making them perfect for cautious or beginner investors who value stability over risk.</a:t>
            </a:r>
            <a:endParaRPr/>
          </a:p>
        </p:txBody>
      </p:sp>
      <p:pic>
        <p:nvPicPr>
          <p:cNvPr descr="A group of yellow figures and a red figure on the other side" id="215" name="Google Shape;215;p20"/>
          <p:cNvPicPr preferRelativeResize="0"/>
          <p:nvPr/>
        </p:nvPicPr>
        <p:blipFill rotWithShape="1">
          <a:blip r:embed="rId3">
            <a:alphaModFix/>
          </a:blip>
          <a:srcRect b="-1" l="42392" r="5771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Learning Assessment Question 1</a:t>
            </a:r>
            <a:endParaRPr/>
          </a:p>
        </p:txBody>
      </p:sp>
      <p:sp>
        <p:nvSpPr>
          <p:cNvPr id="221" name="Google Shape;221;p21"/>
          <p:cNvSpPr txBox="1"/>
          <p:nvPr>
            <p:ph idx="1" type="body"/>
          </p:nvPr>
        </p:nvSpPr>
        <p:spPr>
          <a:xfrm>
            <a:off x="838199" y="2646294"/>
            <a:ext cx="820069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bond?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A savings account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A loan from an investor to a company or government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A type of stock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A credit card agreement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Question 2</a:t>
            </a:r>
            <a:endParaRPr/>
          </a:p>
        </p:txBody>
      </p:sp>
      <p:sp>
        <p:nvSpPr>
          <p:cNvPr id="227" name="Google Shape;227;p22"/>
          <p:cNvSpPr txBox="1"/>
          <p:nvPr>
            <p:ph idx="1" type="body"/>
          </p:nvPr>
        </p:nvSpPr>
        <p:spPr>
          <a:xfrm>
            <a:off x="838200" y="3124131"/>
            <a:ext cx="405284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“coupon” on a bond?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The price paid to buy the bond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The interest payment investors receive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The bond’s expiration date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The company’s stock value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Question 3</a:t>
            </a:r>
            <a:endParaRPr/>
          </a:p>
        </p:txBody>
      </p:sp>
      <p:sp>
        <p:nvSpPr>
          <p:cNvPr id="233" name="Google Shape;233;p23"/>
          <p:cNvSpPr txBox="1"/>
          <p:nvPr>
            <p:ph idx="1" type="body"/>
          </p:nvPr>
        </p:nvSpPr>
        <p:spPr>
          <a:xfrm>
            <a:off x="838200" y="2985631"/>
            <a:ext cx="543418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happens at bond maturity?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The investor receives the bond’s face value back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The bond becomes worthless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The company issues new shares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Interest payments stop permanently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Question 4</a:t>
            </a:r>
            <a:endParaRPr/>
          </a:p>
        </p:txBody>
      </p:sp>
      <p:sp>
        <p:nvSpPr>
          <p:cNvPr id="239" name="Google Shape;239;p24"/>
          <p:cNvSpPr txBox="1"/>
          <p:nvPr>
            <p:ph idx="1" type="body"/>
          </p:nvPr>
        </p:nvSpPr>
        <p:spPr>
          <a:xfrm>
            <a:off x="838200" y="3124131"/>
            <a:ext cx="480131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of these is a risk of owning bonds?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Interest rate changes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Unlimited profits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Constant inflation adjustment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None of the above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Question 5</a:t>
            </a:r>
            <a:endParaRPr/>
          </a:p>
        </p:txBody>
      </p:sp>
      <p:sp>
        <p:nvSpPr>
          <p:cNvPr id="245" name="Google Shape;245;p25"/>
          <p:cNvSpPr txBox="1"/>
          <p:nvPr>
            <p:ph idx="1" type="body"/>
          </p:nvPr>
        </p:nvSpPr>
        <p:spPr>
          <a:xfrm>
            <a:off x="838200" y="3124131"/>
            <a:ext cx="372409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do people invest in bonds?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To gamble for high profits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To earn steady income safely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To avoid taxes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To trade daily for quick gains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