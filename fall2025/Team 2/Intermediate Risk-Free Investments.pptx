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Play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1600200" y="2363323"/>
            <a:ext cx="8991600" cy="16927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Intermediate Risk-Free Investments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4098020" y="4157438"/>
            <a:ext cx="39960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0" y="0"/>
            <a:ext cx="11416414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889000" sx="90000" rotWithShape="0" algn="t" dir="21540000" dist="406400" sy="90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4"/>
          <p:cNvSpPr txBox="1"/>
          <p:nvPr>
            <p:ph type="title"/>
          </p:nvPr>
        </p:nvSpPr>
        <p:spPr>
          <a:xfrm>
            <a:off x="6803409" y="762001"/>
            <a:ext cx="4156512" cy="17082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/>
              <a:t>1. Concept and Role</a:t>
            </a:r>
            <a:endParaRPr/>
          </a:p>
        </p:txBody>
      </p:sp>
      <p:pic>
        <p:nvPicPr>
          <p:cNvPr descr="Arrows pointing right while one points left" id="93" name="Google Shape;93;p14"/>
          <p:cNvPicPr preferRelativeResize="0"/>
          <p:nvPr/>
        </p:nvPicPr>
        <p:blipFill rotWithShape="1">
          <a:blip r:embed="rId3">
            <a:alphaModFix/>
          </a:blip>
          <a:srcRect b="-2" l="28067" r="12599" t="0"/>
          <a:stretch/>
        </p:blipFill>
        <p:spPr>
          <a:xfrm>
            <a:off x="-1" y="-2"/>
            <a:ext cx="6096001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6803409" y="2470245"/>
            <a:ext cx="4156512" cy="3769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finance, 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risk-free investments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are those with 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guaranteed returns and minimal uncertainty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They are used as a 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benchmark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to compare other investments and to manage portfolio risk.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gital numbers and graphs" id="100" name="Google Shape;100;p15"/>
          <p:cNvPicPr preferRelativeResize="0"/>
          <p:nvPr/>
        </p:nvPicPr>
        <p:blipFill rotWithShape="1">
          <a:blip r:embed="rId3">
            <a:alphaModFix/>
          </a:blip>
          <a:srcRect b="-2" l="31992" r="15347" t="0"/>
          <a:stretch/>
        </p:blipFill>
        <p:spPr>
          <a:xfrm>
            <a:off x="-1" y="-2"/>
            <a:ext cx="5410198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/>
          <p:nvPr/>
        </p:nvSpPr>
        <p:spPr>
          <a:xfrm>
            <a:off x="5410197" y="-1"/>
            <a:ext cx="6781802" cy="2286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55600" sx="95000" rotWithShape="0" algn="t" dist="152400" sy="95000">
              <a:srgbClr val="000000">
                <a:alpha val="2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 txBox="1"/>
          <p:nvPr>
            <p:ph type="title"/>
          </p:nvPr>
        </p:nvSpPr>
        <p:spPr>
          <a:xfrm>
            <a:off x="6115317" y="405685"/>
            <a:ext cx="5464968" cy="1559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/>
              <a:t>2. Common Instruments</a:t>
            </a:r>
            <a:endParaRPr/>
          </a:p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6115317" y="2743200"/>
            <a:ext cx="5247340" cy="34968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270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Treasury Bills (T-Bills):</a:t>
            </a: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 Short-term government securities (less than 1 year).</a:t>
            </a:r>
            <a:endParaRPr/>
          </a:p>
          <a:p>
            <a:pPr indent="-127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Treasury Bonds:</a:t>
            </a: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 Long-term government debt with fixed interest.</a:t>
            </a:r>
            <a:endParaRPr/>
          </a:p>
          <a:p>
            <a:pPr indent="-127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Government Savings Bonds:</a:t>
            </a: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 Designed for individuals; provide stable interest.</a:t>
            </a:r>
            <a:endParaRPr/>
          </a:p>
          <a:p>
            <a:pPr indent="-127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Money Market Accounts:</a:t>
            </a: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 Low-risk accounts investing in short-term government debt.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6"/>
          <p:cNvSpPr/>
          <p:nvPr/>
        </p:nvSpPr>
        <p:spPr>
          <a:xfrm flipH="1" rot="5400000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6"/>
          <p:cNvSpPr/>
          <p:nvPr/>
        </p:nvSpPr>
        <p:spPr>
          <a:xfrm flipH="1" rot="5400000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6"/>
          <p:cNvSpPr/>
          <p:nvPr/>
        </p:nvSpPr>
        <p:spPr>
          <a:xfrm flipH="1" rot="5400000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6"/>
          <p:cNvSpPr/>
          <p:nvPr/>
        </p:nvSpPr>
        <p:spPr>
          <a:xfrm rot="-964587">
            <a:off x="-501737" y="969718"/>
            <a:ext cx="390035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6"/>
          <p:cNvSpPr/>
          <p:nvPr/>
        </p:nvSpPr>
        <p:spPr>
          <a:xfrm flipH="1" rot="5400000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 txBox="1"/>
          <p:nvPr>
            <p:ph type="title"/>
          </p:nvPr>
        </p:nvSpPr>
        <p:spPr>
          <a:xfrm>
            <a:off x="586478" y="1683756"/>
            <a:ext cx="3115265" cy="23963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n-US" sz="4000">
                <a:solidFill>
                  <a:srgbClr val="FFFFFF"/>
                </a:solidFill>
              </a:rPr>
              <a:t>3. Purpose and Strategies</a:t>
            </a:r>
            <a:endParaRPr/>
          </a:p>
        </p:txBody>
      </p:sp>
      <p:grpSp>
        <p:nvGrpSpPr>
          <p:cNvPr id="115" name="Google Shape;115;p16"/>
          <p:cNvGrpSpPr/>
          <p:nvPr/>
        </p:nvGrpSpPr>
        <p:grpSpPr>
          <a:xfrm>
            <a:off x="4905052" y="786880"/>
            <a:ext cx="6666833" cy="5381038"/>
            <a:chOff x="0" y="36440"/>
            <a:chExt cx="6666833" cy="5381038"/>
          </a:xfrm>
        </p:grpSpPr>
        <p:sp>
          <p:nvSpPr>
            <p:cNvPr id="116" name="Google Shape;116;p16"/>
            <p:cNvSpPr/>
            <p:nvPr/>
          </p:nvSpPr>
          <p:spPr>
            <a:xfrm>
              <a:off x="0" y="36440"/>
              <a:ext cx="6666833" cy="1734159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AB4E9D"/>
                </a:gs>
                <a:gs pos="50000">
                  <a:srgbClr val="A62094"/>
                </a:gs>
                <a:gs pos="100000">
                  <a:srgbClr val="961886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6"/>
            <p:cNvSpPr txBox="1"/>
            <p:nvPr/>
          </p:nvSpPr>
          <p:spPr>
            <a:xfrm>
              <a:off x="84655" y="121095"/>
              <a:ext cx="6497523" cy="15648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8100" lIns="118100" spcFirstLastPara="1" rIns="118100" wrap="square" tIns="118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100"/>
                <a:buFont typeface="Arial"/>
                <a:buNone/>
              </a:pPr>
              <a:r>
                <a:rPr b="0" i="0" lang="en-US" sz="3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Used to </a:t>
              </a:r>
              <a:r>
                <a:rPr b="1" i="0" lang="en-US" sz="3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stabilize portfolios</a:t>
              </a:r>
              <a:r>
                <a:rPr b="0" i="0" lang="en-US" sz="3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 during volatile market conditions.</a:t>
              </a:r>
              <a:endParaRPr b="0" i="0" sz="3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6"/>
            <p:cNvSpPr/>
            <p:nvPr/>
          </p:nvSpPr>
          <p:spPr>
            <a:xfrm>
              <a:off x="0" y="1859880"/>
              <a:ext cx="6666833" cy="1734159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4F7FAD"/>
                </a:gs>
                <a:gs pos="50000">
                  <a:srgbClr val="246EA7"/>
                </a:gs>
                <a:gs pos="100000">
                  <a:srgbClr val="1A629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6"/>
            <p:cNvSpPr txBox="1"/>
            <p:nvPr/>
          </p:nvSpPr>
          <p:spPr>
            <a:xfrm>
              <a:off x="84655" y="1944535"/>
              <a:ext cx="6497523" cy="15648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8100" lIns="118100" spcFirstLastPara="1" rIns="118100" wrap="square" tIns="118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100"/>
                <a:buFont typeface="Arial"/>
                <a:buNone/>
              </a:pPr>
              <a:r>
                <a:rPr b="0" i="0" lang="en-US" sz="3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Serve as a </a:t>
              </a:r>
              <a:r>
                <a:rPr b="1" i="0" lang="en-US" sz="3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benchmark rate</a:t>
              </a:r>
              <a:r>
                <a:rPr b="0" i="0" lang="en-US" sz="3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 in financial models like the </a:t>
              </a:r>
              <a:r>
                <a:rPr b="1" i="0" lang="en-US" sz="3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Capital Asset Pricing Model (CAPM)</a:t>
              </a:r>
              <a:r>
                <a:rPr b="0" i="0" lang="en-US" sz="3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3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0" y="3683319"/>
              <a:ext cx="6666833" cy="1734159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63B150"/>
                </a:gs>
                <a:gs pos="50000">
                  <a:srgbClr val="48AC24"/>
                </a:gs>
                <a:gs pos="100000">
                  <a:srgbClr val="3D9D1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6"/>
            <p:cNvSpPr txBox="1"/>
            <p:nvPr/>
          </p:nvSpPr>
          <p:spPr>
            <a:xfrm>
              <a:off x="84655" y="3767974"/>
              <a:ext cx="6497523" cy="15648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8100" lIns="118100" spcFirstLastPara="1" rIns="118100" wrap="square" tIns="118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100"/>
                <a:buFont typeface="Arial"/>
                <a:buNone/>
              </a:pPr>
              <a:r>
                <a:rPr b="0" i="0" lang="en-US" sz="3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Help investors </a:t>
              </a:r>
              <a:r>
                <a:rPr b="1" i="0" lang="en-US" sz="3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compare yields</a:t>
              </a:r>
              <a:r>
                <a:rPr b="0" i="0" lang="en-US" sz="3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 across short- and long-term securities.</a:t>
              </a:r>
              <a:endParaRPr b="0" i="0" sz="3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Risks and Limitations</a:t>
            </a:r>
            <a:endParaRPr/>
          </a:p>
        </p:txBody>
      </p:sp>
      <p:grpSp>
        <p:nvGrpSpPr>
          <p:cNvPr id="127" name="Google Shape;127;p17"/>
          <p:cNvGrpSpPr/>
          <p:nvPr/>
        </p:nvGrpSpPr>
        <p:grpSpPr>
          <a:xfrm>
            <a:off x="838200" y="1826156"/>
            <a:ext cx="10515600" cy="4350274"/>
            <a:chOff x="0" y="531"/>
            <a:chExt cx="10515600" cy="4350274"/>
          </a:xfrm>
        </p:grpSpPr>
        <p:sp>
          <p:nvSpPr>
            <p:cNvPr id="128" name="Google Shape;128;p17"/>
            <p:cNvSpPr/>
            <p:nvPr/>
          </p:nvSpPr>
          <p:spPr>
            <a:xfrm>
              <a:off x="0" y="531"/>
              <a:ext cx="10515600" cy="1242935"/>
            </a:xfrm>
            <a:prstGeom prst="roundRect">
              <a:avLst>
                <a:gd fmla="val 10000" name="adj"/>
              </a:avLst>
            </a:prstGeom>
            <a:solidFill>
              <a:srgbClr val="CAD1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375988" y="280191"/>
              <a:ext cx="683614" cy="683614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1435590" y="531"/>
              <a:ext cx="9080009" cy="1242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7"/>
            <p:cNvSpPr txBox="1"/>
            <p:nvPr/>
          </p:nvSpPr>
          <p:spPr>
            <a:xfrm>
              <a:off x="1435590" y="531"/>
              <a:ext cx="9080009" cy="1242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1525" lIns="131525" spcFirstLastPara="1" rIns="131525" wrap="square" tIns="13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Inflation Risk:</a:t>
              </a: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Reduces purchasing power.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0" y="1554201"/>
              <a:ext cx="10515600" cy="1242935"/>
            </a:xfrm>
            <a:prstGeom prst="roundRect">
              <a:avLst>
                <a:gd fmla="val 10000" name="adj"/>
              </a:avLst>
            </a:prstGeom>
            <a:solidFill>
              <a:srgbClr val="CAD1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375988" y="1833861"/>
              <a:ext cx="683614" cy="683614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7"/>
            <p:cNvSpPr/>
            <p:nvPr/>
          </p:nvSpPr>
          <p:spPr>
            <a:xfrm>
              <a:off x="1435590" y="1554201"/>
              <a:ext cx="9080009" cy="1242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7"/>
            <p:cNvSpPr txBox="1"/>
            <p:nvPr/>
          </p:nvSpPr>
          <p:spPr>
            <a:xfrm>
              <a:off x="1435590" y="1554201"/>
              <a:ext cx="9080009" cy="1242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1525" lIns="131525" spcFirstLastPara="1" rIns="131525" wrap="square" tIns="13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Currency Risk:</a:t>
              </a: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Exchange rate changes for foreign investors.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7"/>
            <p:cNvSpPr/>
            <p:nvPr/>
          </p:nvSpPr>
          <p:spPr>
            <a:xfrm>
              <a:off x="0" y="3107870"/>
              <a:ext cx="10515600" cy="1242935"/>
            </a:xfrm>
            <a:prstGeom prst="roundRect">
              <a:avLst>
                <a:gd fmla="val 10000" name="adj"/>
              </a:avLst>
            </a:prstGeom>
            <a:solidFill>
              <a:srgbClr val="CAD1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375988" y="3387531"/>
              <a:ext cx="683614" cy="683614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7"/>
            <p:cNvSpPr/>
            <p:nvPr/>
          </p:nvSpPr>
          <p:spPr>
            <a:xfrm>
              <a:off x="1435590" y="3107870"/>
              <a:ext cx="9080009" cy="1242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7"/>
            <p:cNvSpPr txBox="1"/>
            <p:nvPr/>
          </p:nvSpPr>
          <p:spPr>
            <a:xfrm>
              <a:off x="1435590" y="3107870"/>
              <a:ext cx="9080009" cy="1242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1525" lIns="131525" spcFirstLastPara="1" rIns="131525" wrap="square" tIns="13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Reinvestment Risk:</a:t>
              </a: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Lower interest rates when reinvesting matured funds.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8"/>
          <p:cNvSpPr txBox="1"/>
          <p:nvPr>
            <p:ph type="title"/>
          </p:nvPr>
        </p:nvSpPr>
        <p:spPr>
          <a:xfrm>
            <a:off x="1171074" y="1396686"/>
            <a:ext cx="3240506" cy="4064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lang="en-US">
                <a:solidFill>
                  <a:srgbClr val="FFFFFF"/>
                </a:solidFill>
              </a:rPr>
              <a:t>5. Conclusion</a:t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 rot="-1790889">
            <a:off x="8683720" y="941148"/>
            <a:ext cx="2987899" cy="2987899"/>
          </a:xfrm>
          <a:prstGeom prst="arc">
            <a:avLst>
              <a:gd fmla="val 15817365" name="adj1"/>
              <a:gd fmla="val 178138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 txBox="1"/>
          <p:nvPr>
            <p:ph idx="1" type="body"/>
          </p:nvPr>
        </p:nvSpPr>
        <p:spPr>
          <a:xfrm>
            <a:off x="5370153" y="1526033"/>
            <a:ext cx="5536397" cy="3935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Intermediate investors use risk-free investments to 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 portfolios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 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manage liquidity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 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expectations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for returns in riskier assets.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Learning Assessment Question 1 </a:t>
            </a:r>
            <a:endParaRPr/>
          </a:p>
        </p:txBody>
      </p:sp>
      <p:sp>
        <p:nvSpPr>
          <p:cNvPr id="155" name="Google Shape;155;p19"/>
          <p:cNvSpPr txBox="1"/>
          <p:nvPr>
            <p:ph idx="1" type="body"/>
          </p:nvPr>
        </p:nvSpPr>
        <p:spPr>
          <a:xfrm>
            <a:off x="838200" y="3262630"/>
            <a:ext cx="4920321" cy="1477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“risk-free rate”?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a) The guaranteed return on a risk-free investment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b) The highest rate in the market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The interest rate on loans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The rate banks charge borrowers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Question 2</a:t>
            </a:r>
            <a:endParaRPr/>
          </a:p>
        </p:txBody>
      </p:sp>
      <p:sp>
        <p:nvSpPr>
          <p:cNvPr id="161" name="Google Shape;161;p20"/>
          <p:cNvSpPr txBox="1"/>
          <p:nvPr>
            <p:ph idx="1" type="body"/>
          </p:nvPr>
        </p:nvSpPr>
        <p:spPr>
          <a:xfrm>
            <a:off x="838200" y="3124131"/>
            <a:ext cx="7648248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Which investment is commonly used to represent the risk-free rate?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a) Treasury Bill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b) Corporate Bond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Stock Dividend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Real Estate Investment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Question 3</a:t>
            </a:r>
            <a:endParaRPr/>
          </a:p>
        </p:txBody>
      </p:sp>
      <p:sp>
        <p:nvSpPr>
          <p:cNvPr id="167" name="Google Shape;167;p21"/>
          <p:cNvSpPr/>
          <p:nvPr/>
        </p:nvSpPr>
        <p:spPr>
          <a:xfrm>
            <a:off x="998483" y="3673997"/>
            <a:ext cx="10973777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does CAPM use the risk-free rate to calculate?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a) Stock price volatility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b) Expected return on risky assets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Inflation rate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Currency exchange rate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Question 4</a:t>
            </a:r>
            <a:endParaRPr/>
          </a:p>
        </p:txBody>
      </p:sp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838200" y="4183564"/>
            <a:ext cx="6168656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main limitation of risk-free investments?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a) They are not insured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b) They offer lower returns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They are not legal for institutions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They fluctuate wildly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Question 5</a:t>
            </a:r>
            <a:endParaRPr/>
          </a:p>
        </p:txBody>
      </p:sp>
      <p:sp>
        <p:nvSpPr>
          <p:cNvPr id="179" name="Google Shape;179;p23"/>
          <p:cNvSpPr txBox="1"/>
          <p:nvPr>
            <p:ph idx="1" type="body"/>
          </p:nvPr>
        </p:nvSpPr>
        <p:spPr>
          <a:xfrm>
            <a:off x="838200" y="2985631"/>
            <a:ext cx="6904454" cy="203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Which of the following is a short-term risk-free investment?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a) 30-year Treasury bond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b) Treasury Bill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Real estate fund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Corporate stock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