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8" name="Google Shape;18;p2"/>
          <p:cNvGrpSpPr/>
          <p:nvPr/>
        </p:nvGrpSpPr>
        <p:grpSpPr>
          <a:xfrm>
            <a:off x="7236911" y="3051692"/>
            <a:ext cx="810678" cy="810677"/>
            <a:chOff x="9685338" y="4460675"/>
            <a:chExt cx="1080904" cy="1080902"/>
          </a:xfrm>
        </p:grpSpPr>
        <p:sp>
          <p:nvSpPr>
            <p:cNvPr id="19" name="Google Shape;19;p2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Rockwell"/>
                <a:buNone/>
              </a:pPr>
              <a:r>
                <a:t/>
              </a:r>
              <a:endParaRPr b="1" i="0" sz="15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Rockwel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21;p2"/>
          <p:cNvSpPr txBox="1"/>
          <p:nvPr>
            <p:ph type="ctrTitle"/>
          </p:nvPr>
        </p:nvSpPr>
        <p:spPr>
          <a:xfrm>
            <a:off x="788670" y="1074167"/>
            <a:ext cx="7475220" cy="2276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Rockwell"/>
              <a:buNone/>
              <a:defRPr sz="7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802386" y="3291840"/>
            <a:ext cx="5918454" cy="8023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3"/>
              <a:buNone/>
              <a:defRPr sz="165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85"/>
              <a:buNone/>
              <a:defRPr sz="21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75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75"/>
              <a:buNone/>
              <a:defRPr sz="15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75"/>
              <a:buNone/>
              <a:defRPr sz="15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75"/>
              <a:buNone/>
              <a:defRPr sz="15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75"/>
              <a:buNone/>
              <a:defRPr sz="15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1275"/>
              <a:buNone/>
              <a:defRPr sz="1500"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7194550" y="3217001"/>
            <a:ext cx="8954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1625346" y="918972"/>
            <a:ext cx="6960870" cy="2640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1624331" y="3765042"/>
            <a:ext cx="678942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9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9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9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9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9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89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6445251" y="4704588"/>
            <a:ext cx="198323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1637031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2" name="Google Shape;42;p5"/>
          <p:cNvGrpSpPr/>
          <p:nvPr/>
        </p:nvGrpSpPr>
        <p:grpSpPr>
          <a:xfrm>
            <a:off x="673049" y="1744386"/>
            <a:ext cx="810678" cy="810677"/>
            <a:chOff x="9685338" y="4460675"/>
            <a:chExt cx="1080904" cy="1080902"/>
          </a:xfrm>
        </p:grpSpPr>
        <p:sp>
          <p:nvSpPr>
            <p:cNvPr id="43" name="Google Shape;43;p5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Rockwell"/>
                <a:buNone/>
              </a:pPr>
              <a:r>
                <a:t/>
              </a:r>
              <a:endParaRPr b="1" i="0" sz="15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Rockwel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632776" y="1879600"/>
            <a:ext cx="891224" cy="540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sz="21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sz="21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sz="21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sz="21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sz="21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sz="21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sz="21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sz="21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ckwell"/>
              <a:buNone/>
              <a:defRPr b="1" sz="21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802386" y="1645920"/>
            <a:ext cx="3566160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9562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75"/>
              <a:buChar char="▪"/>
              <a:defRPr sz="1500"/>
            </a:lvl1pPr>
            <a:lvl2pPr indent="-301466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Char char="▪"/>
              <a:defRPr sz="1350"/>
            </a:lvl2pPr>
            <a:lvl3pPr indent="-293369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3pPr>
            <a:lvl4pPr indent="-293369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4pPr>
            <a:lvl5pPr indent="-29337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5pPr>
            <a:lvl6pPr indent="-301466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Char char="▪"/>
              <a:defRPr sz="1350"/>
            </a:lvl6pPr>
            <a:lvl7pPr indent="-301466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Char char="▪"/>
              <a:defRPr sz="1350"/>
            </a:lvl7pPr>
            <a:lvl8pPr indent="-301466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Char char="▪"/>
              <a:defRPr sz="1350"/>
            </a:lvl8pPr>
            <a:lvl9pPr indent="-301466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1148"/>
              <a:buChar char="▪"/>
              <a:defRPr sz="1350"/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4773168" y="1645920"/>
            <a:ext cx="3566160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9562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75"/>
              <a:buChar char="▪"/>
              <a:defRPr sz="1500"/>
            </a:lvl1pPr>
            <a:lvl2pPr indent="-301466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Char char="▪"/>
              <a:defRPr sz="1350"/>
            </a:lvl2pPr>
            <a:lvl3pPr indent="-293369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3pPr>
            <a:lvl4pPr indent="-293369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4pPr>
            <a:lvl5pPr indent="-29337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5pPr>
            <a:lvl6pPr indent="-301466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Char char="▪"/>
              <a:defRPr sz="1350"/>
            </a:lvl6pPr>
            <a:lvl7pPr indent="-301466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Char char="▪"/>
              <a:defRPr sz="1350"/>
            </a:lvl7pPr>
            <a:lvl8pPr indent="-301466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Char char="▪"/>
              <a:defRPr sz="1350"/>
            </a:lvl8pPr>
            <a:lvl9pPr indent="-301466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1148"/>
              <a:buChar char="▪"/>
              <a:defRPr sz="1350"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idx="1" type="body"/>
          </p:nvPr>
        </p:nvSpPr>
        <p:spPr>
          <a:xfrm>
            <a:off x="800100" y="1536192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75"/>
              <a:buNone/>
              <a:defRPr b="1" sz="15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75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1020"/>
              <a:buNone/>
              <a:defRPr b="1" sz="1200"/>
            </a:lvl9pPr>
          </a:lstStyle>
          <a:p/>
        </p:txBody>
      </p:sp>
      <p:sp>
        <p:nvSpPr>
          <p:cNvPr id="55" name="Google Shape;55;p7"/>
          <p:cNvSpPr txBox="1"/>
          <p:nvPr>
            <p:ph idx="2" type="body"/>
          </p:nvPr>
        </p:nvSpPr>
        <p:spPr>
          <a:xfrm>
            <a:off x="802386" y="205740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9562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75"/>
              <a:buChar char="▪"/>
              <a:defRPr sz="1500"/>
            </a:lvl1pPr>
            <a:lvl2pPr indent="-301466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Char char="▪"/>
              <a:defRPr sz="1350"/>
            </a:lvl2pPr>
            <a:lvl3pPr indent="-293369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3pPr>
            <a:lvl4pPr indent="-293369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4pPr>
            <a:lvl5pPr indent="-29337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5pPr>
            <a:lvl6pPr indent="-29337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6pPr>
            <a:lvl7pPr indent="-29337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7pPr>
            <a:lvl8pPr indent="-29337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8pPr>
            <a:lvl9pPr indent="-293370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1020"/>
              <a:buChar char="▪"/>
              <a:defRPr sz="1200"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4773168" y="1536192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75"/>
              <a:buNone/>
              <a:defRPr b="1" sz="15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75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1020"/>
              <a:buNone/>
              <a:defRPr b="1" sz="1200"/>
            </a:lvl9pPr>
          </a:lstStyle>
          <a:p/>
        </p:txBody>
      </p:sp>
      <p:sp>
        <p:nvSpPr>
          <p:cNvPr id="57" name="Google Shape;57;p7"/>
          <p:cNvSpPr txBox="1"/>
          <p:nvPr>
            <p:ph idx="4" type="body"/>
          </p:nvPr>
        </p:nvSpPr>
        <p:spPr>
          <a:xfrm>
            <a:off x="4773168" y="205740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9562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75"/>
              <a:buChar char="▪"/>
              <a:defRPr sz="1500"/>
            </a:lvl1pPr>
            <a:lvl2pPr indent="-301466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Char char="▪"/>
              <a:defRPr sz="1350"/>
            </a:lvl2pPr>
            <a:lvl3pPr indent="-293369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3pPr>
            <a:lvl4pPr indent="-293369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4pPr>
            <a:lvl5pPr indent="-29337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5pPr>
            <a:lvl6pPr indent="-29337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6pPr>
            <a:lvl7pPr indent="-29337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7pPr>
            <a:lvl8pPr indent="-29337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8pPr>
            <a:lvl9pPr indent="-293370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1020"/>
              <a:buChar char="▪"/>
              <a:defRPr sz="1200"/>
            </a:lvl9pPr>
          </a:lstStyle>
          <a:p/>
        </p:txBody>
      </p:sp>
      <p:sp>
        <p:nvSpPr>
          <p:cNvPr id="58" name="Google Shape;58;p7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8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6412230" y="514350"/>
            <a:ext cx="24003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ckwell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628650" y="514350"/>
            <a:ext cx="5033772" cy="3765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9562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75"/>
              <a:buChar char="▪"/>
              <a:defRPr sz="1500"/>
            </a:lvl1pPr>
            <a:lvl2pPr indent="-301466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48"/>
              <a:buChar char="▪"/>
              <a:defRPr sz="1350"/>
            </a:lvl2pPr>
            <a:lvl3pPr indent="-293369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3pPr>
            <a:lvl4pPr indent="-293369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4pPr>
            <a:lvl5pPr indent="-29337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20"/>
              <a:buChar char="▪"/>
              <a:defRPr sz="1200"/>
            </a:lvl5pPr>
            <a:lvl6pPr indent="-309562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75"/>
              <a:buChar char="▪"/>
              <a:defRPr sz="1500"/>
            </a:lvl6pPr>
            <a:lvl7pPr indent="-309562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75"/>
              <a:buChar char="▪"/>
              <a:defRPr sz="1500"/>
            </a:lvl7pPr>
            <a:lvl8pPr indent="-309562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75"/>
              <a:buChar char="▪"/>
              <a:defRPr sz="1500"/>
            </a:lvl8pPr>
            <a:lvl9pPr indent="-309562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1275"/>
              <a:buChar char="▪"/>
              <a:defRPr sz="1500"/>
            </a:lvl9pPr>
          </a:lstStyle>
          <a:p/>
        </p:txBody>
      </p:sp>
      <p:sp>
        <p:nvSpPr>
          <p:cNvPr id="75" name="Google Shape;75;p10"/>
          <p:cNvSpPr txBox="1"/>
          <p:nvPr>
            <p:ph idx="2" type="body"/>
          </p:nvPr>
        </p:nvSpPr>
        <p:spPr>
          <a:xfrm>
            <a:off x="6412230" y="1817370"/>
            <a:ext cx="24003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93"/>
              <a:buNone/>
              <a:defRPr sz="105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65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38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74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74"/>
              <a:buNone/>
              <a:defRPr sz="675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74"/>
              <a:buNone/>
              <a:defRPr sz="675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74"/>
              <a:buNone/>
              <a:defRPr sz="675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74"/>
              <a:buNone/>
              <a:defRPr sz="675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574"/>
              <a:buNone/>
              <a:defRPr sz="675"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8" name="Google Shape;78;p10"/>
          <p:cNvGrpSpPr/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79" name="Google Shape;79;p10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Rockwell"/>
                <a:buNone/>
              </a:pPr>
              <a:r>
                <a:t/>
              </a:r>
              <a:endParaRPr b="1" i="0" sz="15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0" name="Google Shape;80;p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Rockwel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6412230" y="514350"/>
            <a:ext cx="24003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ckwell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/>
          <p:nvPr>
            <p:ph idx="2" type="pic"/>
          </p:nvPr>
        </p:nvSpPr>
        <p:spPr>
          <a:xfrm>
            <a:off x="0" y="0"/>
            <a:ext cx="6227805" cy="51435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6412230" y="1817370"/>
            <a:ext cx="24003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93"/>
              <a:buNone/>
              <a:defRPr sz="105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65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38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74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74"/>
              <a:buNone/>
              <a:defRPr sz="675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74"/>
              <a:buNone/>
              <a:defRPr sz="675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74"/>
              <a:buNone/>
              <a:defRPr sz="675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74"/>
              <a:buNone/>
              <a:defRPr sz="675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574"/>
              <a:buNone/>
              <a:defRPr sz="675"/>
            </a:lvl9pPr>
          </a:lstStyle>
          <a:p/>
        </p:txBody>
      </p:sp>
      <p:sp>
        <p:nvSpPr>
          <p:cNvPr id="87" name="Google Shape;87;p11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8" name="Google Shape;88;p11"/>
          <p:cNvGrpSpPr/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9" name="Google Shape;89;p11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Rockwell"/>
                <a:buNone/>
              </a:pPr>
              <a:r>
                <a:t/>
              </a:r>
              <a:endParaRPr b="1" i="0" sz="15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Rockwel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1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" type="body"/>
          </p:nvPr>
        </p:nvSpPr>
        <p:spPr>
          <a:xfrm rot="5400000">
            <a:off x="3055239" y="-661797"/>
            <a:ext cx="3038094" cy="7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title"/>
          </p:nvPr>
        </p:nvSpPr>
        <p:spPr>
          <a:xfrm rot="5400000">
            <a:off x="5386388" y="1557338"/>
            <a:ext cx="4229100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" type="body"/>
          </p:nvPr>
        </p:nvSpPr>
        <p:spPr>
          <a:xfrm rot="5400000">
            <a:off x="1500188" y="-300037"/>
            <a:ext cx="4229100" cy="562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50"/>
              <a:buFont typeface="Rockwell"/>
              <a:buNone/>
              <a:defRPr b="0" i="0" sz="4050" u="none" cap="none" strike="noStrik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9562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1275"/>
              <a:buFont typeface="Noto Sans Symbols"/>
              <a:buChar char="▪"/>
              <a:defRPr b="0" i="0" sz="1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01466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148"/>
              <a:buFont typeface="Noto Sans Symbols"/>
              <a:buChar char="▪"/>
              <a:defRPr b="0" i="0" sz="135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293369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293369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29337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29337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29337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29337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29337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25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25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10" name="Google Shape;10;p1"/>
          <p:cNvGrpSpPr/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1" name="Google Shape;11;p1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Rockwell"/>
                <a:buNone/>
              </a:pPr>
              <a:r>
                <a:t/>
              </a:r>
              <a:endParaRPr b="1" i="0" sz="15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Rockwel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i="0" sz="105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50"/>
              <a:buFont typeface="Rockwell"/>
              <a:buNone/>
              <a:defRPr b="0" i="0" sz="4050" u="none" cap="none" strike="noStrik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9562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1275"/>
              <a:buFont typeface="Noto Sans Symbols"/>
              <a:buChar char="▪"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01466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148"/>
              <a:buFont typeface="Noto Sans Symbols"/>
              <a:buChar char="▪"/>
              <a:defRPr b="0" i="0" sz="135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293369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293369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29337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29337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29337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29337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29337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rgbClr val="9E3611"/>
              </a:buClr>
              <a:buSzPts val="102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825">
                <a:solidFill>
                  <a:schemeClr val="lt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25">
                <a:solidFill>
                  <a:schemeClr val="lt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109" name="Google Shape;109;p14"/>
          <p:cNvGrpSpPr/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10" name="Google Shape;110;p14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Rockwell"/>
                <a:buNone/>
              </a:pPr>
              <a:r>
                <a:t/>
              </a:r>
              <a:endParaRPr b="1" i="0" sz="15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Rockwel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14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sz="105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sz="105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sz="105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sz="105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sz="105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sz="105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sz="105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sz="105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ckwell"/>
              <a:buNone/>
              <a:defRPr b="1" sz="1050" u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jp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 rotWithShape="1">
          <a:blip r:embed="rId3">
            <a:alphaModFix/>
          </a:blip>
          <a:srcRect b="13622" l="0" r="0" t="28685"/>
          <a:stretch/>
        </p:blipFill>
        <p:spPr>
          <a:xfrm>
            <a:off x="20" y="10"/>
            <a:ext cx="914398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blipFill rotWithShape="1">
            <a:blip r:embed="rId4">
              <a:alphaModFix amt="30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25" name="Google Shape;125;p16"/>
          <p:cNvSpPr txBox="1"/>
          <p:nvPr>
            <p:ph type="ctrTitle"/>
          </p:nvPr>
        </p:nvSpPr>
        <p:spPr>
          <a:xfrm>
            <a:off x="788670" y="1074167"/>
            <a:ext cx="7475220" cy="227685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Rockwell"/>
              <a:buNone/>
            </a:pPr>
            <a:r>
              <a:rPr lang="en-US">
                <a:solidFill>
                  <a:srgbClr val="FFFFFF"/>
                </a:solidFill>
              </a:rPr>
              <a:t>INTERMEDIATE BLOCKCHAIN</a:t>
            </a:r>
            <a:endParaRPr/>
          </a:p>
        </p:txBody>
      </p:sp>
      <p:sp>
        <p:nvSpPr>
          <p:cNvPr id="126" name="Google Shape;126;p16"/>
          <p:cNvSpPr txBox="1"/>
          <p:nvPr>
            <p:ph idx="1" type="subTitle"/>
          </p:nvPr>
        </p:nvSpPr>
        <p:spPr>
          <a:xfrm>
            <a:off x="802386" y="3291840"/>
            <a:ext cx="5918454" cy="802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3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7"/>
          <p:cNvGrpSpPr/>
          <p:nvPr/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132" name="Google Shape;132;p1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134" name="Google Shape;134;p17"/>
          <p:cNvSpPr/>
          <p:nvPr/>
        </p:nvSpPr>
        <p:spPr>
          <a:xfrm>
            <a:off x="2508" y="0"/>
            <a:ext cx="9141492" cy="5143499"/>
          </a:xfrm>
          <a:prstGeom prst="rect">
            <a:avLst/>
          </a:prstGeom>
          <a:blipFill rotWithShape="1">
            <a:blip r:embed="rId4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35" name="Google Shape;135;p17"/>
          <p:cNvSpPr txBox="1"/>
          <p:nvPr>
            <p:ph type="title"/>
          </p:nvPr>
        </p:nvSpPr>
        <p:spPr>
          <a:xfrm>
            <a:off x="3727581" y="363474"/>
            <a:ext cx="5047708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</a:pPr>
            <a:r>
              <a:rPr lang="en-US" sz="3600"/>
              <a:t>INTRODUCTION</a:t>
            </a:r>
            <a:endParaRPr/>
          </a:p>
        </p:txBody>
      </p:sp>
      <p:pic>
        <p:nvPicPr>
          <p:cNvPr descr="Top view of cubes connected with black lines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29552" r="19629" t="0"/>
          <a:stretch/>
        </p:blipFill>
        <p:spPr>
          <a:xfrm>
            <a:off x="2508" y="10"/>
            <a:ext cx="3485044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>
            <p:ph idx="1" type="body"/>
          </p:nvPr>
        </p:nvSpPr>
        <p:spPr>
          <a:xfrm>
            <a:off x="3727581" y="1591056"/>
            <a:ext cx="5047707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90"/>
              <a:buFont typeface="Noto Sans Symbols"/>
              <a:buChar char="▪"/>
            </a:pPr>
            <a:r>
              <a:rPr lang="en-US" sz="1400"/>
              <a:t>Blockchain is a distributed ledger technology (DLT) that records transactions in a secure, transparent, and tamper-resistant manner.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90"/>
              <a:buFont typeface="Noto Sans Symbols"/>
              <a:buChar char="▪"/>
            </a:pPr>
            <a:r>
              <a:rPr lang="en-US" sz="1400"/>
              <a:t>Unlike traditional centralized systems, blockchain operates through a peer-to-peer (P2P) network where each participant (node) maintains a synchronized copy of the ledger.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ts val="1190"/>
              <a:buFont typeface="Noto Sans Symbols"/>
              <a:buChar char="▪"/>
            </a:pPr>
            <a:r>
              <a:rPr lang="en-US" sz="1400"/>
              <a:t>This architecture eliminates the need for intermediaries, reduces fraud, and increases trust among untrusted parties.</a:t>
            </a:r>
            <a:endParaRPr/>
          </a:p>
        </p:txBody>
      </p:sp>
      <p:grpSp>
        <p:nvGrpSpPr>
          <p:cNvPr id="138" name="Google Shape;138;p17"/>
          <p:cNvGrpSpPr/>
          <p:nvPr/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139" name="Google Shape;139;p1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8"/>
          <p:cNvGrpSpPr/>
          <p:nvPr/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146" name="Google Shape;146;p1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pic>
        <p:nvPicPr>
          <p:cNvPr descr="Blue blocks and networks technology background" id="148" name="Google Shape;148;p18"/>
          <p:cNvPicPr preferRelativeResize="0"/>
          <p:nvPr/>
        </p:nvPicPr>
        <p:blipFill rotWithShape="1">
          <a:blip r:embed="rId4">
            <a:alphaModFix/>
          </a:blip>
          <a:srcRect b="-445" l="0" r="0" t="0"/>
          <a:stretch/>
        </p:blipFill>
        <p:spPr>
          <a:xfrm>
            <a:off x="20" y="10"/>
            <a:ext cx="914398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blipFill rotWithShape="1">
            <a:blip r:embed="rId5">
              <a:alphaModFix amt="30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51" name="Google Shape;151;p18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ckwell"/>
              <a:buNone/>
            </a:pPr>
            <a:r>
              <a:rPr lang="en-US" sz="5400">
                <a:solidFill>
                  <a:schemeClr val="lt1"/>
                </a:solidFill>
              </a:rPr>
              <a:t>CORE ARCHITECTURE</a:t>
            </a:r>
            <a:endParaRPr/>
          </a:p>
        </p:txBody>
      </p:sp>
      <p:sp>
        <p:nvSpPr>
          <p:cNvPr id="152" name="Google Shape;152;p18"/>
          <p:cNvSpPr txBox="1"/>
          <p:nvPr>
            <p:ph idx="1" type="body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275"/>
              <a:buFont typeface="Noto Sans Symbols"/>
              <a:buChar char="▪"/>
            </a:pPr>
            <a:r>
              <a:rPr lang="en-US"/>
              <a:t>A blockchain consists of three main components:</a:t>
            </a:r>
            <a:endParaRPr/>
          </a:p>
          <a:p>
            <a:pPr indent="-18288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275"/>
              <a:buFont typeface="Noto Sans Symbols"/>
              <a:buChar char="▪"/>
            </a:pPr>
            <a:r>
              <a:rPr b="1" lang="en-US"/>
              <a:t>Blocks:</a:t>
            </a:r>
            <a:r>
              <a:rPr lang="en-US"/>
              <a:t> Each block contains a set of transactions, a timestamp, the hash of the previous block, and a unique hash of its own.</a:t>
            </a:r>
            <a:endParaRPr/>
          </a:p>
          <a:p>
            <a:pPr indent="-1828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75"/>
              <a:buFont typeface="Noto Sans Symbols"/>
              <a:buChar char="▪"/>
            </a:pPr>
            <a:r>
              <a:rPr b="1" lang="en-US"/>
              <a:t>Nodes:</a:t>
            </a:r>
            <a:r>
              <a:rPr lang="en-US"/>
              <a:t> Computers that participate in validating and storing the blockchain. Nodes can be full (store all data) or light (store only parts).</a:t>
            </a:r>
            <a:endParaRPr/>
          </a:p>
          <a:p>
            <a:pPr indent="-1828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75"/>
              <a:buFont typeface="Noto Sans Symbols"/>
              <a:buChar char="▪"/>
            </a:pPr>
            <a:r>
              <a:rPr b="1" lang="en-US"/>
              <a:t>Consensus Mechanism:</a:t>
            </a:r>
            <a:r>
              <a:rPr lang="en-US"/>
              <a:t> Algorithms that ensure all nodes agree on the same version of the truth.</a:t>
            </a:r>
            <a:endParaRPr/>
          </a:p>
          <a:p>
            <a:pPr indent="80962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1275"/>
              <a:buFont typeface="Noto Sans Symbols"/>
              <a:buNone/>
            </a:pPr>
            <a:r>
              <a:t/>
            </a:r>
            <a:endParaRPr/>
          </a:p>
        </p:txBody>
      </p:sp>
      <p:grpSp>
        <p:nvGrpSpPr>
          <p:cNvPr id="153" name="Google Shape;153;p18"/>
          <p:cNvGrpSpPr/>
          <p:nvPr/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154" name="Google Shape;154;p1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9"/>
          <p:cNvGrpSpPr/>
          <p:nvPr/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161" name="Google Shape;161;p1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163" name="Google Shape;163;p19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blipFill rotWithShape="1">
            <a:blip r:embed="rId4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4" name="Google Shape;164;p19"/>
          <p:cNvSpPr txBox="1"/>
          <p:nvPr>
            <p:ph type="title"/>
          </p:nvPr>
        </p:nvSpPr>
        <p:spPr>
          <a:xfrm>
            <a:off x="5912709" y="363474"/>
            <a:ext cx="286258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</a:pPr>
            <a:r>
              <a:rPr lang="en-US" sz="2400"/>
              <a:t>CONSENSUS MECHANISMS</a:t>
            </a:r>
            <a:endParaRPr/>
          </a:p>
        </p:txBody>
      </p:sp>
      <p:pic>
        <p:nvPicPr>
          <p:cNvPr descr="An electronic circuit board in blue color" id="165" name="Google Shape;165;p19"/>
          <p:cNvPicPr preferRelativeResize="0"/>
          <p:nvPr/>
        </p:nvPicPr>
        <p:blipFill rotWithShape="1">
          <a:blip r:embed="rId5">
            <a:alphaModFix/>
          </a:blip>
          <a:srcRect b="0" l="0" r="26524" t="0"/>
          <a:stretch/>
        </p:blipFill>
        <p:spPr>
          <a:xfrm>
            <a:off x="2507" y="10"/>
            <a:ext cx="5661692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5912708" y="1591056"/>
            <a:ext cx="286258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850"/>
              <a:buFont typeface="Noto Sans Symbols"/>
              <a:buChar char="▪"/>
            </a:pPr>
            <a:r>
              <a:rPr lang="en-US" sz="1000"/>
              <a:t>Consensus is essential to maintaining the integrity of a decentralized network. Common algorithms include:</a:t>
            </a:r>
            <a:endParaRPr/>
          </a:p>
          <a:p>
            <a:pPr indent="-18288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850"/>
              <a:buFont typeface="Noto Sans Symbols"/>
              <a:buChar char="▪"/>
            </a:pPr>
            <a:r>
              <a:rPr b="1" lang="en-US" sz="1000"/>
              <a:t>Proof of Work (PoW):</a:t>
            </a:r>
            <a:r>
              <a:rPr lang="en-US" sz="1000"/>
              <a:t> Used by Bitcoin; miners solve complex puzzles to validate transactions, ensuring security but consuming high energy.</a:t>
            </a:r>
            <a:endParaRPr/>
          </a:p>
          <a:p>
            <a:pPr indent="-1828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0"/>
              <a:buFont typeface="Noto Sans Symbols"/>
              <a:buChar char="▪"/>
            </a:pPr>
            <a:r>
              <a:rPr b="1" lang="en-US" sz="1000"/>
              <a:t>Proof of Stake (PoS):</a:t>
            </a:r>
            <a:r>
              <a:rPr lang="en-US" sz="1000"/>
              <a:t> Validators are chosen based on their stake (coins held), making it energy-efficient.</a:t>
            </a:r>
            <a:endParaRPr/>
          </a:p>
          <a:p>
            <a:pPr indent="-1828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0"/>
              <a:buFont typeface="Noto Sans Symbols"/>
              <a:buChar char="▪"/>
            </a:pPr>
            <a:r>
              <a:rPr b="1" lang="en-US" sz="1000"/>
              <a:t>Delegated Proof of Stake (DPoS):</a:t>
            </a:r>
            <a:r>
              <a:rPr lang="en-US" sz="1000"/>
              <a:t> Stakeholders vote for delegates to validate blocks.</a:t>
            </a:r>
            <a:endParaRPr/>
          </a:p>
          <a:p>
            <a:pPr indent="-1828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0"/>
              <a:buFont typeface="Noto Sans Symbols"/>
              <a:buChar char="▪"/>
            </a:pPr>
            <a:r>
              <a:rPr b="1" lang="en-US" sz="1000"/>
              <a:t>Practical Byzantine Fault Tolerance (PBFT):</a:t>
            </a:r>
            <a:r>
              <a:rPr lang="en-US" sz="1000"/>
              <a:t> Designed for permissioned (private) blockchains where trust among participants is higher.</a:t>
            </a:r>
            <a:endParaRPr/>
          </a:p>
          <a:p>
            <a:pPr indent="53975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850"/>
              <a:buFont typeface="Noto Sans Symbols"/>
              <a:buNone/>
            </a:pPr>
            <a:r>
              <a:t/>
            </a:r>
            <a:endParaRPr sz="1000"/>
          </a:p>
        </p:txBody>
      </p:sp>
      <p:grpSp>
        <p:nvGrpSpPr>
          <p:cNvPr id="167" name="Google Shape;167;p19"/>
          <p:cNvGrpSpPr/>
          <p:nvPr/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168" name="Google Shape;168;p1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0"/>
          <p:cNvGrpSpPr/>
          <p:nvPr/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175" name="Google Shape;175;p20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177" name="Google Shape;177;p20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</a:pPr>
            <a:r>
              <a:rPr lang="en-US" sz="5400"/>
              <a:t>SMART CONTRACTS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800100" y="1509969"/>
            <a:ext cx="7543800" cy="60513"/>
          </a:xfrm>
          <a:prstGeom prst="rect">
            <a:avLst/>
          </a:prstGeom>
          <a:blipFill rotWithShape="1">
            <a:blip r:embed="rId4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79" name="Google Shape;179;p20"/>
          <p:cNvGrpSpPr/>
          <p:nvPr/>
        </p:nvGrpSpPr>
        <p:grpSpPr>
          <a:xfrm>
            <a:off x="802481" y="2360117"/>
            <a:ext cx="7543799" cy="1571232"/>
            <a:chOff x="0" y="571075"/>
            <a:chExt cx="7543799" cy="1571232"/>
          </a:xfrm>
        </p:grpSpPr>
        <p:sp>
          <p:nvSpPr>
            <p:cNvPr id="180" name="Google Shape;180;p20"/>
            <p:cNvSpPr/>
            <p:nvPr/>
          </p:nvSpPr>
          <p:spPr>
            <a:xfrm>
              <a:off x="0" y="571075"/>
              <a:ext cx="2121693" cy="1347275"/>
            </a:xfrm>
            <a:prstGeom prst="roundRect">
              <a:avLst>
                <a:gd fmla="val 10000" name="adj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235743" y="795032"/>
              <a:ext cx="2121693" cy="1347275"/>
            </a:xfrm>
            <a:prstGeom prst="roundRect">
              <a:avLst>
                <a:gd fmla="val 10000" name="adj"/>
              </a:avLst>
            </a:prstGeom>
            <a:solidFill>
              <a:schemeClr val="lt2">
                <a:alpha val="89803"/>
              </a:schemeClr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275203" y="834492"/>
              <a:ext cx="2042773" cy="12683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ckwell"/>
                <a:buNone/>
              </a:pPr>
              <a:r>
                <a:rPr lang="en-US" sz="12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Smart contracts are </a:t>
              </a:r>
              <a:r>
                <a:rPr b="1" lang="en-US" sz="12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self-executing digital agreements</a:t>
              </a:r>
              <a:r>
                <a:rPr lang="en-US" sz="12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 coded directly on the blockchain.</a:t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2593181" y="571075"/>
              <a:ext cx="2121693" cy="1347275"/>
            </a:xfrm>
            <a:prstGeom prst="roundRect">
              <a:avLst>
                <a:gd fmla="val 10000" name="adj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2828925" y="795032"/>
              <a:ext cx="2121693" cy="1347275"/>
            </a:xfrm>
            <a:prstGeom prst="roundRect">
              <a:avLst>
                <a:gd fmla="val 10000" name="adj"/>
              </a:avLst>
            </a:prstGeom>
            <a:solidFill>
              <a:schemeClr val="lt2">
                <a:alpha val="89803"/>
              </a:schemeClr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2868385" y="834492"/>
              <a:ext cx="2042773" cy="12683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ckwell"/>
                <a:buNone/>
              </a:pPr>
              <a:r>
                <a:rPr lang="en-US" sz="12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When predefined conditions are met, they automatically trigger actions (e.g., release of funds).</a:t>
              </a:r>
              <a:endParaRPr/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5186362" y="571075"/>
              <a:ext cx="2121693" cy="1347275"/>
            </a:xfrm>
            <a:prstGeom prst="roundRect">
              <a:avLst>
                <a:gd fmla="val 10000" name="adj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5422106" y="795032"/>
              <a:ext cx="2121693" cy="1347275"/>
            </a:xfrm>
            <a:prstGeom prst="roundRect">
              <a:avLst>
                <a:gd fmla="val 10000" name="adj"/>
              </a:avLst>
            </a:prstGeom>
            <a:solidFill>
              <a:schemeClr val="lt2">
                <a:alpha val="89803"/>
              </a:schemeClr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5461566" y="834492"/>
              <a:ext cx="2042773" cy="12683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ckwell"/>
                <a:buNone/>
              </a:pPr>
              <a:r>
                <a:rPr lang="en-US" sz="12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They remove the need for intermediaries and are widely used in </a:t>
              </a:r>
              <a:r>
                <a:rPr b="1" lang="en-US" sz="12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decentralized finance (DeFi)</a:t>
              </a:r>
              <a:r>
                <a:rPr lang="en-US" sz="12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, supply chain automation, and tokenized asset platforms.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21"/>
          <p:cNvGrpSpPr/>
          <p:nvPr/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194" name="Google Shape;194;p21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196" name="Google Shape;196;p21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</a:pPr>
            <a:r>
              <a:rPr lang="en-US" sz="5400"/>
              <a:t>KEY ADVANTAGES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800100" y="1509969"/>
            <a:ext cx="7543800" cy="60513"/>
          </a:xfrm>
          <a:prstGeom prst="rect">
            <a:avLst/>
          </a:prstGeom>
          <a:blipFill rotWithShape="1">
            <a:blip r:embed="rId4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98" name="Google Shape;198;p21"/>
          <p:cNvGrpSpPr/>
          <p:nvPr/>
        </p:nvGrpSpPr>
        <p:grpSpPr>
          <a:xfrm>
            <a:off x="804136" y="2135475"/>
            <a:ext cx="7540488" cy="2020517"/>
            <a:chOff x="1655" y="346433"/>
            <a:chExt cx="7540488" cy="2020517"/>
          </a:xfrm>
        </p:grpSpPr>
        <p:sp>
          <p:nvSpPr>
            <p:cNvPr id="199" name="Google Shape;199;p21"/>
            <p:cNvSpPr/>
            <p:nvPr/>
          </p:nvSpPr>
          <p:spPr>
            <a:xfrm>
              <a:off x="326605" y="346433"/>
              <a:ext cx="1016507" cy="101650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1"/>
            <p:cNvSpPr/>
            <p:nvPr/>
          </p:nvSpPr>
          <p:spPr>
            <a:xfrm>
              <a:off x="543237" y="563066"/>
              <a:ext cx="583242" cy="58324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1"/>
            <p:cNvSpPr/>
            <p:nvPr/>
          </p:nvSpPr>
          <p:spPr>
            <a:xfrm>
              <a:off x="1655" y="1679558"/>
              <a:ext cx="1666406" cy="687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1"/>
            <p:cNvSpPr txBox="1"/>
            <p:nvPr/>
          </p:nvSpPr>
          <p:spPr>
            <a:xfrm>
              <a:off x="1655" y="1679558"/>
              <a:ext cx="1666406" cy="687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None/>
              </a:pPr>
              <a:r>
                <a:rPr b="1" lang="en-US" sz="1100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DATA INTEGRITY:</a:t>
              </a:r>
              <a:r>
                <a:rPr lang="en-US" sz="1100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 CRYPTOGRAPHIC HASHES ENSURE DATA CANNOT BE ALTERED RETROACTIVELY.</a:t>
              </a:r>
              <a:endParaRPr/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2284632" y="346433"/>
              <a:ext cx="1016507" cy="101650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1"/>
            <p:cNvSpPr/>
            <p:nvPr/>
          </p:nvSpPr>
          <p:spPr>
            <a:xfrm>
              <a:off x="2501265" y="563066"/>
              <a:ext cx="583242" cy="58324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1"/>
            <p:cNvSpPr/>
            <p:nvPr/>
          </p:nvSpPr>
          <p:spPr>
            <a:xfrm>
              <a:off x="1959683" y="1679558"/>
              <a:ext cx="1666406" cy="687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1"/>
            <p:cNvSpPr txBox="1"/>
            <p:nvPr/>
          </p:nvSpPr>
          <p:spPr>
            <a:xfrm>
              <a:off x="1959683" y="1679558"/>
              <a:ext cx="1666406" cy="687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None/>
              </a:pPr>
              <a:r>
                <a:rPr b="1" lang="en-US" sz="1100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TRACEABILITY:</a:t>
              </a:r>
              <a:r>
                <a:rPr lang="en-US" sz="1100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 IDEAL FOR TRACKING GOODS, PAYMENTS, AND CONTRACTS.</a:t>
              </a:r>
              <a:endParaRPr/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4242659" y="346433"/>
              <a:ext cx="1016507" cy="101650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1"/>
            <p:cNvSpPr/>
            <p:nvPr/>
          </p:nvSpPr>
          <p:spPr>
            <a:xfrm>
              <a:off x="4459292" y="563066"/>
              <a:ext cx="583242" cy="58324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1"/>
            <p:cNvSpPr/>
            <p:nvPr/>
          </p:nvSpPr>
          <p:spPr>
            <a:xfrm>
              <a:off x="3917710" y="1679558"/>
              <a:ext cx="1666406" cy="687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3917710" y="1679558"/>
              <a:ext cx="1666406" cy="687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None/>
              </a:pPr>
              <a:r>
                <a:rPr b="1" lang="en-US" sz="1100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REDUCED COSTS:</a:t>
              </a:r>
              <a:r>
                <a:rPr lang="en-US" sz="1100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 MINIMIZES INTERMEDIARIES AND MANUAL VERIFICATION.</a:t>
              </a:r>
              <a:endParaRPr/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6200687" y="346433"/>
              <a:ext cx="1016507" cy="101650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1"/>
            <p:cNvSpPr/>
            <p:nvPr/>
          </p:nvSpPr>
          <p:spPr>
            <a:xfrm>
              <a:off x="6417319" y="563066"/>
              <a:ext cx="583242" cy="58324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5875737" y="1679558"/>
              <a:ext cx="1666406" cy="687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1"/>
            <p:cNvSpPr txBox="1"/>
            <p:nvPr/>
          </p:nvSpPr>
          <p:spPr>
            <a:xfrm>
              <a:off x="5875737" y="1679558"/>
              <a:ext cx="1666406" cy="687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Rockwell"/>
                <a:buNone/>
              </a:pPr>
              <a:r>
                <a:rPr b="1" lang="en-US" sz="1100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AUTOMATION:</a:t>
              </a:r>
              <a:r>
                <a:rPr lang="en-US" sz="1100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 SMART CONTRACTS STREAMLINE COMPLEX WORKFLOWS.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2"/>
          <p:cNvGrpSpPr/>
          <p:nvPr/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220" name="Google Shape;220;p22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222" name="Google Shape;22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738378" y="348089"/>
            <a:ext cx="7667244" cy="60512"/>
          </a:xfrm>
          <a:prstGeom prst="rect">
            <a:avLst/>
          </a:prstGeom>
          <a:blipFill rotWithShape="1">
            <a:blip r:embed="rId4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738378" y="451464"/>
            <a:ext cx="7667244" cy="1039405"/>
          </a:xfrm>
          <a:prstGeom prst="rect">
            <a:avLst/>
          </a:prstGeom>
          <a:blipFill rotWithShape="1">
            <a:blip r:embed="rId4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738378" y="1528991"/>
            <a:ext cx="7667244" cy="60512"/>
          </a:xfrm>
          <a:prstGeom prst="rect">
            <a:avLst/>
          </a:prstGeom>
          <a:blipFill rotWithShape="1">
            <a:blip r:embed="rId4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26" name="Google Shape;226;p22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</a:pPr>
            <a:r>
              <a:rPr lang="en-US" sz="5400"/>
              <a:t>FUTURE DIRECTIONS</a:t>
            </a:r>
            <a:endParaRPr/>
          </a:p>
        </p:txBody>
      </p:sp>
      <p:sp>
        <p:nvSpPr>
          <p:cNvPr id="227" name="Google Shape;227;p22"/>
          <p:cNvSpPr txBox="1"/>
          <p:nvPr>
            <p:ph idx="1" type="body"/>
          </p:nvPr>
        </p:nvSpPr>
        <p:spPr>
          <a:xfrm>
            <a:off x="802386" y="1740309"/>
            <a:ext cx="7543800" cy="2888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275"/>
              <a:buFont typeface="Noto Sans Symbols"/>
              <a:buChar char="▪"/>
            </a:pPr>
            <a:r>
              <a:rPr lang="en-US"/>
              <a:t>The next generation of blockchain emphasizes:</a:t>
            </a:r>
            <a:endParaRPr/>
          </a:p>
          <a:p>
            <a:pPr indent="-18288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275"/>
              <a:buFont typeface="Noto Sans Symbols"/>
              <a:buChar char="▪"/>
            </a:pPr>
            <a:r>
              <a:rPr b="1" lang="en-US"/>
              <a:t>Layer-2 scaling solutions</a:t>
            </a:r>
            <a:r>
              <a:rPr lang="en-US"/>
              <a:t> (e.g., Lightning Network, Polygon).</a:t>
            </a:r>
            <a:endParaRPr/>
          </a:p>
          <a:p>
            <a:pPr indent="-1828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75"/>
              <a:buFont typeface="Noto Sans Symbols"/>
              <a:buChar char="▪"/>
            </a:pPr>
            <a:r>
              <a:rPr b="1" lang="en-US"/>
              <a:t>Interoperable frameworks</a:t>
            </a:r>
            <a:r>
              <a:rPr lang="en-US"/>
              <a:t> (e.g., Polkadot, Cosmos).</a:t>
            </a:r>
            <a:endParaRPr/>
          </a:p>
          <a:p>
            <a:pPr indent="-1828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75"/>
              <a:buFont typeface="Noto Sans Symbols"/>
              <a:buChar char="▪"/>
            </a:pPr>
            <a:r>
              <a:rPr b="1" lang="en-US"/>
              <a:t>Green consensus algorithms</a:t>
            </a:r>
            <a:r>
              <a:rPr lang="en-US"/>
              <a:t> to reduce energy use.</a:t>
            </a:r>
            <a:endParaRPr/>
          </a:p>
          <a:p>
            <a:pPr indent="-1828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75"/>
              <a:buFont typeface="Noto Sans Symbols"/>
              <a:buChar char="▪"/>
            </a:pPr>
            <a:r>
              <a:rPr b="1" lang="en-US"/>
              <a:t>Integration with AI and IoT</a:t>
            </a:r>
            <a:r>
              <a:rPr lang="en-US"/>
              <a:t> for smarter, automated ecosystems.</a:t>
            </a:r>
            <a:endParaRPr/>
          </a:p>
          <a:p>
            <a:pPr indent="80962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1275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8551293" y="4672260"/>
            <a:ext cx="342900" cy="342900"/>
          </a:xfrm>
          <a:prstGeom prst="ellipse">
            <a:avLst/>
          </a:prstGeom>
          <a:blipFill rotWithShape="1">
            <a:blip r:embed="rId3">
              <a:alphaModFix/>
            </a:blip>
            <a:tile algn="tl" flip="none" tx="50800" sx="85000" ty="0" sy="85000"/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None/>
            </a:pPr>
            <a:r>
              <a:t/>
            </a:r>
            <a:endParaRPr b="1" i="0" sz="2000" u="none" cap="none" strike="noStrike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8573188" y="4694155"/>
            <a:ext cx="299110" cy="299111"/>
          </a:xfrm>
          <a:prstGeom prst="ellipse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ckwel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8606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23"/>
          <p:cNvGrpSpPr/>
          <p:nvPr/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235" name="Google Shape;235;p23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36" name="Google Shape;236;p23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237" name="Google Shape;237;p23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686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705997" y="0"/>
            <a:ext cx="345057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705996" y="0"/>
            <a:ext cx="3450571" cy="5143499"/>
          </a:xfrm>
          <a:prstGeom prst="rect">
            <a:avLst/>
          </a:prstGeom>
          <a:blipFill rotWithShape="1">
            <a:blip r:embed="rId4">
              <a:alphaModFix amt="4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240" name="Google Shape;240;p23"/>
          <p:cNvGrpSpPr/>
          <p:nvPr/>
        </p:nvGrpSpPr>
        <p:grpSpPr>
          <a:xfrm>
            <a:off x="8551293" y="4672260"/>
            <a:ext cx="342900" cy="342900"/>
            <a:chOff x="11401725" y="6229681"/>
            <a:chExt cx="457200" cy="457200"/>
          </a:xfrm>
        </p:grpSpPr>
        <p:sp>
          <p:nvSpPr>
            <p:cNvPr id="241" name="Google Shape;241;p23"/>
            <p:cNvSpPr/>
            <p:nvPr/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23"/>
          <p:cNvSpPr txBox="1"/>
          <p:nvPr>
            <p:ph type="title"/>
          </p:nvPr>
        </p:nvSpPr>
        <p:spPr>
          <a:xfrm>
            <a:off x="6039462" y="482600"/>
            <a:ext cx="2684208" cy="418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</a:pPr>
            <a:r>
              <a:rPr lang="en-US" sz="4600"/>
              <a:t>CONCLUSION</a:t>
            </a:r>
            <a:endParaRPr/>
          </a:p>
        </p:txBody>
      </p:sp>
      <p:sp>
        <p:nvSpPr>
          <p:cNvPr id="244" name="Google Shape;244;p23"/>
          <p:cNvSpPr txBox="1"/>
          <p:nvPr>
            <p:ph idx="1" type="body"/>
          </p:nvPr>
        </p:nvSpPr>
        <p:spPr>
          <a:xfrm>
            <a:off x="802386" y="482600"/>
            <a:ext cx="4411168" cy="418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275"/>
              <a:buFont typeface="Noto Sans Symbols"/>
              <a:buChar char="▪"/>
            </a:pPr>
            <a:r>
              <a:rPr lang="en-US"/>
              <a:t>Blockchain has evolved from a cryptocurrency backbone into a foundational technology for decentralized systems.</a:t>
            </a:r>
            <a:br>
              <a:rPr lang="en-US"/>
            </a:br>
            <a:r>
              <a:rPr lang="en-US"/>
              <a:t>As scalability, privacy, and governance improve, it will continue to power innovations across finance, healthcare, supply chains, and beyond .ushering in a more trustless, efficient, and transparent digital economy.</a:t>
            </a:r>
            <a:endParaRPr/>
          </a:p>
          <a:p>
            <a:pPr indent="80962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1275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6817"/>
              <a:buFont typeface="Rockwell"/>
              <a:buNone/>
            </a:pPr>
            <a:r>
              <a:rPr lang="en-US"/>
              <a:t>LEARNING ASSESSMENT QUESTION 1</a:t>
            </a:r>
            <a:endParaRPr/>
          </a:p>
        </p:txBody>
      </p:sp>
      <p:sp>
        <p:nvSpPr>
          <p:cNvPr id="250" name="Google Shape;250;p24"/>
          <p:cNvSpPr txBox="1"/>
          <p:nvPr>
            <p:ph idx="1" type="body"/>
          </p:nvPr>
        </p:nvSpPr>
        <p:spPr>
          <a:xfrm>
            <a:off x="311700" y="1983512"/>
            <a:ext cx="649562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 consensus mechanism in blockchain?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a) A way to agree on valid transactions among network participants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A system for charging transaction fees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A password protection method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A type of cryptocurrency wallet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6817"/>
              <a:buFont typeface="Rockwell"/>
              <a:buNone/>
            </a:pPr>
            <a:r>
              <a:rPr lang="en-US"/>
              <a:t>QUESTION 2</a:t>
            </a:r>
            <a:endParaRPr/>
          </a:p>
        </p:txBody>
      </p:sp>
      <p:sp>
        <p:nvSpPr>
          <p:cNvPr id="256" name="Google Shape;256;p25"/>
          <p:cNvSpPr txBox="1"/>
          <p:nvPr>
            <p:ph idx="1" type="body"/>
          </p:nvPr>
        </p:nvSpPr>
        <p:spPr>
          <a:xfrm>
            <a:off x="311700" y="1983512"/>
            <a:ext cx="522450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consensus method is used by Bitcoin?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Proof of Stake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Proof of Authority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c) Proof of Work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Proof of Burn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6817"/>
              <a:buFont typeface="Rockwell"/>
              <a:buNone/>
            </a:pPr>
            <a:r>
              <a:rPr lang="en-US"/>
              <a:t>QUESTION 3</a:t>
            </a:r>
            <a:endParaRPr/>
          </a:p>
        </p:txBody>
      </p:sp>
      <p:sp>
        <p:nvSpPr>
          <p:cNvPr id="262" name="Google Shape;262;p26"/>
          <p:cNvSpPr txBox="1"/>
          <p:nvPr>
            <p:ph idx="1" type="body"/>
          </p:nvPr>
        </p:nvSpPr>
        <p:spPr>
          <a:xfrm>
            <a:off x="311700" y="1845012"/>
            <a:ext cx="578889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 “smart contract”?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A document stored on a cloud server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A self-executing agreement coded on the blockchain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A traditional paper agreement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A type of mining software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6817"/>
              <a:buFont typeface="Rockwell"/>
              <a:buNone/>
            </a:pPr>
            <a:r>
              <a:rPr lang="en-US"/>
              <a:t>QUESTION 4</a:t>
            </a:r>
            <a:endParaRPr/>
          </a:p>
        </p:txBody>
      </p:sp>
      <p:sp>
        <p:nvSpPr>
          <p:cNvPr id="268" name="Google Shape;268;p27"/>
          <p:cNvSpPr txBox="1"/>
          <p:nvPr>
            <p:ph idx="1" type="body"/>
          </p:nvPr>
        </p:nvSpPr>
        <p:spPr>
          <a:xfrm>
            <a:off x="311700" y="1983512"/>
            <a:ext cx="546765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blockchain enhance transparency?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By hiding all user data from view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By allowing participants to verify transactions publicly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By erasing old data regularly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By encrypting and deleting records every hour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6817"/>
              <a:buFont typeface="Rockwell"/>
              <a:buNone/>
            </a:pPr>
            <a:r>
              <a:rPr lang="en-US"/>
              <a:t>QUESTION 5</a:t>
            </a:r>
            <a:endParaRPr/>
          </a:p>
        </p:txBody>
      </p:sp>
      <p:sp>
        <p:nvSpPr>
          <p:cNvPr id="274" name="Google Shape;274;p28"/>
          <p:cNvSpPr txBox="1"/>
          <p:nvPr>
            <p:ph idx="1" type="body"/>
          </p:nvPr>
        </p:nvSpPr>
        <p:spPr>
          <a:xfrm>
            <a:off x="311700" y="1845012"/>
            <a:ext cx="549381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ckwel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of these is a private blockchain platform?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Ethereum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Hyperledger Fabric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Bitcoin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Litecoin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