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94a235631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94a235631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94a2356315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94a235631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94a2356315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94a2356315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94a2356315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94a2356315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94a2356315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94a2356315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94a2356315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94a2356315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94a2356315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94a2356315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94a2356315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94a2356315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94a2356315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94a2356315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94a2356315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94a2356315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94a2356315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94a2356315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Intermediate Stocks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Moves Stock Prices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Company fundamentals</a:t>
            </a:r>
            <a:r>
              <a:rPr lang="en"/>
              <a:t>: Revenue, earnings growth, and profitability influence stock value.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Strong earnings reports can raise prices; weak results often cause drops.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Market sentiment</a:t>
            </a:r>
            <a:r>
              <a:rPr lang="en"/>
              <a:t>: News headlines, investor confidence, and hype move prices short-term.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Example: Positive product news boosts investor demand.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Economic indicators</a:t>
            </a:r>
            <a:r>
              <a:rPr lang="en"/>
              <a:t>: Interest rates, inflation, and employment data affect markets.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Rising rates can lower stock prices because borrowing costs increase.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Takeaway</a:t>
            </a:r>
            <a:r>
              <a:rPr lang="en"/>
              <a:t>: Prices reflect both company performance and investor emotions.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Stock Metrics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82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Earnings Per Share (EPS):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Formula: Net Income ÷ Shares Outstanding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Higher EPS = more profitable company.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Price-to-Earnings (P/E) Ratio: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Shows how much investors pay per $1 of earnings.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High P/E = growth expectations; Low P/E = possible undervaluation.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Dividend Yield: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Dividend ÷ Stock Price = % return in cash payouts.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Useful for income-focused investors.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Price-to-Book (P/B) Ratio: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Compares stock price to company’s book value.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A P/B under 1 may signal undervaluation.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Return on Equity (ROE):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Measures how effectively a company uses investor money to generate profit.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"/>
              <a:t>Takeaway</a:t>
            </a:r>
            <a:r>
              <a:rPr lang="en"/>
              <a:t>: These metrics help compare companies beyond stock price alone.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Evaluating Companies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Growth trends</a:t>
            </a:r>
            <a:r>
              <a:rPr lang="en"/>
              <a:t>: Look for consistent increases in revenue and profit over time.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Profit margins</a:t>
            </a:r>
            <a:r>
              <a:rPr lang="en"/>
              <a:t>: Higher margins show strong cost control and product demand.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Debt management</a:t>
            </a:r>
            <a:r>
              <a:rPr lang="en"/>
              <a:t>: Too much debt can limit flexibility and increase risk.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Cash flow</a:t>
            </a:r>
            <a:r>
              <a:rPr lang="en"/>
              <a:t>: Positive, steady cash flow means healthy operations.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Competitive advantage (“moat”)</a:t>
            </a:r>
            <a:r>
              <a:rPr lang="en"/>
              <a:t>: Unique products, brand strength, or technology that keep competitors out.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Management quality</a:t>
            </a:r>
            <a:r>
              <a:rPr lang="en"/>
              <a:t>: Reliable leadership drives long-term performance.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Takeaway</a:t>
            </a:r>
            <a:r>
              <a:rPr lang="en"/>
              <a:t>: A good stock represents a healthy, well-managed, and sustainable business.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Stock Valuation Basics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Market value vs intrinsic value: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Market value = current price; intrinsic value = what it should be worth.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Common valuation tools: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P/E Ratio: Compares price to earnings.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PEG Ratio: P/E divided by growth rate — useful for growth stocks.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Discounted Cash Flow (conceptual): Values stock based on expected future cash.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Reality check: No method is perfect — valuation is part art, part science.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Takeaway</a:t>
            </a:r>
            <a:r>
              <a:rPr lang="en"/>
              <a:t>: The goal isn’t to find the “perfect” value but to recognize when a stock seems overpriced or underpriced.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Risk and Diversification</a:t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Diversification</a:t>
            </a:r>
            <a:r>
              <a:rPr lang="en"/>
              <a:t>: Spread investments across industries and asset types to reduce risk.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Example: If tech stocks fall, healthcare or energy might offset losses.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Volatility</a:t>
            </a:r>
            <a:r>
              <a:rPr lang="en"/>
              <a:t>: Measures how much prices fluctuate; higher volatility = higher risk.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Correlation</a:t>
            </a:r>
            <a:r>
              <a:rPr lang="en"/>
              <a:t>: Avoid investing in stocks that move the same way at the same time.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Position sizing</a:t>
            </a:r>
            <a:r>
              <a:rPr lang="en"/>
              <a:t>: Don’t let one stock dominate your portfolio.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Takeaway</a:t>
            </a:r>
            <a:r>
              <a:rPr lang="en"/>
              <a:t>: Diversification protects your portfolio from unexpected downturns.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Smarter Decision-Making</a:t>
            </a:r>
            <a:endParaRPr/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Avoid emotional investing: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Don’t buy from fear of missing out (FOMO) or sell out of panic.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Ignore market noise: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Focus on data and company performance, not daily price swings.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Set goals and stick to them: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Define your investment time horizon (short-, medium-, or long-term).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Rebalance regularly: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Adjust holdings yearly or when one sector grows too large.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Learn continuously: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Track results, study your wins and losses, and refine your approach.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Takeaway</a:t>
            </a:r>
            <a:r>
              <a:rPr lang="en"/>
              <a:t>: Consistency and discipline beat reacting to every market move.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Learning Assessment Question 1</a:t>
            </a:r>
            <a:endParaRPr/>
          </a:p>
        </p:txBody>
      </p:sp>
      <p:sp>
        <p:nvSpPr>
          <p:cNvPr id="97" name="Google Shape;97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primarily drives long-term stock price growth?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Daily market news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highlight>
                  <a:schemeClr val="accent6"/>
                </a:highlight>
              </a:rPr>
              <a:t>Company fundamentals like earnings and revenue growth</a:t>
            </a:r>
            <a:endParaRPr>
              <a:highlight>
                <a:schemeClr val="accent6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Investor emotions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Government policies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 2</a:t>
            </a:r>
            <a:endParaRPr/>
          </a:p>
        </p:txBody>
      </p:sp>
      <p:sp>
        <p:nvSpPr>
          <p:cNvPr id="103" name="Google Shape;103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does a high P/E ratio usually suggest?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company is undervalued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company is highly profitable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highlight>
                  <a:schemeClr val="accent6"/>
                </a:highlight>
              </a:rPr>
              <a:t>Investors expect strong future growth</a:t>
            </a:r>
            <a:endParaRPr>
              <a:highlight>
                <a:schemeClr val="accent6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company is losing money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 3</a:t>
            </a:r>
            <a:endParaRPr/>
          </a:p>
        </p:txBody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is diversification important in investing?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It guarantees profits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highlight>
                  <a:schemeClr val="accent6"/>
                </a:highlight>
              </a:rPr>
              <a:t>It minimizes risk by spreading investments across sectors</a:t>
            </a:r>
            <a:endParaRPr>
              <a:highlight>
                <a:schemeClr val="accent6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It reduces the number of stocks to track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It increases short-term returns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 4</a:t>
            </a:r>
            <a:endParaRPr/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does Return on Equity (ROE) measure?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company’s total revenue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highlight>
                  <a:schemeClr val="accent6"/>
                </a:highlight>
              </a:rPr>
              <a:t>How efficiently a company uses shareholder money to generate profit</a:t>
            </a:r>
            <a:endParaRPr>
              <a:highlight>
                <a:schemeClr val="accent6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company’s market share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company’s dividend history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</a:t>
            </a:r>
            <a:r>
              <a:rPr lang="en"/>
              <a:t> 5</a:t>
            </a:r>
            <a:endParaRPr/>
          </a:p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Which of the following best describes intrinsic value?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price investors are currently paying for a stock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highlight>
                  <a:schemeClr val="accent6"/>
                </a:highlight>
              </a:rPr>
              <a:t>The estimated true worth of a company based on financials and potential</a:t>
            </a:r>
            <a:endParaRPr>
              <a:highlight>
                <a:schemeClr val="accent6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highest price a stock has ever reached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value after dividends are paid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