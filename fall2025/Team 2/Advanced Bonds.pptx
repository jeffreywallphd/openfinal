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iniature bull and bear percentages on a paper printed with the stock price list" id="84" name="Google Shape;84;p13"/>
          <p:cNvPicPr preferRelativeResize="0"/>
          <p:nvPr/>
        </p:nvPicPr>
        <p:blipFill rotWithShape="1">
          <a:blip r:embed="rId3">
            <a:alphaModFix/>
          </a:blip>
          <a:srcRect b="14968" l="0" r="0" t="9710"/>
          <a:stretch/>
        </p:blipFill>
        <p:spPr>
          <a:xfrm>
            <a:off x="20" y="-7619"/>
            <a:ext cx="12191979" cy="68873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>
            <p:ph type="ctrTitle"/>
          </p:nvPr>
        </p:nvSpPr>
        <p:spPr>
          <a:xfrm>
            <a:off x="859029" y="1936866"/>
            <a:ext cx="4849044" cy="28392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</a:rPr>
              <a:t>Advanced Bonds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859028" y="4873600"/>
            <a:ext cx="4849044" cy="118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range and blue numbers and graphs" id="91" name="Google Shape;91;p14"/>
          <p:cNvPicPr preferRelativeResize="0"/>
          <p:nvPr/>
        </p:nvPicPr>
        <p:blipFill rotWithShape="1">
          <a:blip r:embed="rId3">
            <a:alphaModFix/>
          </a:blip>
          <a:srcRect b="1" l="18082" r="27537" t="0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>
            <p:ph type="title"/>
          </p:nvPr>
        </p:nvSpPr>
        <p:spPr>
          <a:xfrm>
            <a:off x="761801" y="328512"/>
            <a:ext cx="4778387" cy="1628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</a:pPr>
            <a:r>
              <a:rPr b="1" lang="en-US" sz="3700">
                <a:latin typeface="Arial"/>
                <a:ea typeface="Arial"/>
                <a:cs typeface="Arial"/>
                <a:sym typeface="Arial"/>
              </a:rPr>
              <a:t>Bonds in Financial Markets</a:t>
            </a:r>
            <a:br>
              <a:rPr b="1" lang="en-US" sz="3700">
                <a:latin typeface="Arial"/>
                <a:ea typeface="Arial"/>
                <a:cs typeface="Arial"/>
                <a:sym typeface="Arial"/>
              </a:rPr>
            </a:br>
            <a:endParaRPr sz="37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61801" y="2884929"/>
            <a:ext cx="4659756" cy="3374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investors view bonds as a core component of capital markets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used to manage risk, fund operations, and balance portfolios.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analyze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duration, convexity, yield curves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 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credit spreads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to optimize returns relative to risk.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Yield Analysis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Yield Curve: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Graph showing bond yields vs. maturities.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Normal Curve: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Long-term yields higher than short-term.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Inverted Curve: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Often signals economic slowdown.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Flat Curve: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Little difference across maturities.</a:t>
            </a:r>
            <a:endParaRPr/>
          </a:p>
        </p:txBody>
      </p:sp>
      <p:pic>
        <p:nvPicPr>
          <p:cNvPr descr="Yellow paper folded as graph" id="100" name="Google Shape;100;p15"/>
          <p:cNvPicPr preferRelativeResize="0"/>
          <p:nvPr/>
        </p:nvPicPr>
        <p:blipFill rotWithShape="1">
          <a:blip r:embed="rId3">
            <a:alphaModFix/>
          </a:blip>
          <a:srcRect b="-1" l="24924" r="23238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/>
              <a:t>Credit and Market Risk</a:t>
            </a:r>
            <a:endParaRPr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737501" y="2566481"/>
            <a:ext cx="10740938" cy="3285000"/>
            <a:chOff x="93445" y="453902"/>
            <a:chExt cx="10740938" cy="3285000"/>
          </a:xfrm>
        </p:grpSpPr>
        <p:sp>
          <p:nvSpPr>
            <p:cNvPr id="107" name="Google Shape;107;p16"/>
            <p:cNvSpPr/>
            <p:nvPr/>
          </p:nvSpPr>
          <p:spPr>
            <a:xfrm>
              <a:off x="718664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1135476" y="870715"/>
              <a:ext cx="1122187" cy="11221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93445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CREDIT SPREAD: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DIFFERENCE IN YIELD BETWEEN RISKY BONDS AND RISK-FREE BONDS.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4486008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4902820" y="870715"/>
              <a:ext cx="1122187" cy="11221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3860789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DURATION: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MEASURES SENSITIVITY OF BOND PRICE TO INTEREST RATE CHANGES.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8253352" y="453902"/>
              <a:ext cx="1955812" cy="19558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8670164" y="870715"/>
              <a:ext cx="1122187" cy="11221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7628133" y="3018902"/>
              <a:ext cx="320625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CONVEXITY:</a:t>
              </a:r>
              <a:r>
                <a:rPr b="0" i="0" lang="en-US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SHOWS HOW DURATION CHANGES WHEN INTEREST RATES CHANGE.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762000" y="1138036"/>
            <a:ext cx="4085665" cy="1402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Advanced Bond Instruments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762000" y="2551176"/>
            <a:ext cx="4085665" cy="3591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Convertible Bonds: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Can convert into company shares.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Perpetual Bonds: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No maturity date, pay interest indefinitely.</a:t>
            </a:r>
            <a:endParaRPr/>
          </a:p>
          <a:p>
            <a:pPr indent="-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Inflation-Protected Bonds (TIPS):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 Adjust principal with inflation.</a:t>
            </a:r>
            <a:endParaRPr/>
          </a:p>
        </p:txBody>
      </p:sp>
      <p:pic>
        <p:nvPicPr>
          <p:cNvPr descr="A digital stock market graph" id="125" name="Google Shape;125;p17"/>
          <p:cNvPicPr preferRelativeResize="0"/>
          <p:nvPr/>
        </p:nvPicPr>
        <p:blipFill rotWithShape="1">
          <a:blip r:embed="rId3">
            <a:alphaModFix/>
          </a:blip>
          <a:srcRect b="-1" l="33237" r="1905" t="0"/>
          <a:stretch/>
        </p:blipFill>
        <p:spPr>
          <a:xfrm>
            <a:off x="5650992" y="10"/>
            <a:ext cx="6541008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type="title"/>
          </p:nvPr>
        </p:nvSpPr>
        <p:spPr>
          <a:xfrm>
            <a:off x="2187363" y="1671569"/>
            <a:ext cx="5801917" cy="222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Taxation and Strategy</a:t>
            </a:r>
            <a:endParaRPr/>
          </a:p>
        </p:txBody>
      </p:sp>
      <p:pic>
        <p:nvPicPr>
          <p:cNvPr descr="Money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948" y="2694018"/>
            <a:ext cx="1198532" cy="11985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2187364" y="4072044"/>
            <a:ext cx="5801917" cy="2057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latin typeface="Arial"/>
                <a:ea typeface="Arial"/>
                <a:cs typeface="Arial"/>
                <a:sym typeface="Arial"/>
              </a:rPr>
              <a:t>Advanced investors manage bonds for after-tax returns, optimizing across different jurisdictions and inflation environments, often using derivatives (swaps, futures) to hedge rate exposure</a:t>
            </a:r>
            <a:r>
              <a:rPr b="0" i="0" lang="en-US" sz="2000" u="none" cap="none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Money" id="134" name="Google Shape;134;p18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6641431" y="816337"/>
            <a:ext cx="5225327" cy="522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761800" y="762001"/>
            <a:ext cx="5334197" cy="1708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Conclusion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761800" y="2470244"/>
            <a:ext cx="5334197" cy="3769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an advanced level, bonds are not just safe investments — they are strategic financial instruments used for yield optimization, macroeconomic forecasting, and risk-adjusted portfolio design.</a:t>
            </a:r>
            <a:endParaRPr/>
          </a:p>
        </p:txBody>
      </p:sp>
      <p:pic>
        <p:nvPicPr>
          <p:cNvPr descr="Graph on document with pen" id="141" name="Google Shape;141;p19"/>
          <p:cNvPicPr preferRelativeResize="0"/>
          <p:nvPr/>
        </p:nvPicPr>
        <p:blipFill rotWithShape="1">
          <a:blip r:embed="rId3">
            <a:alphaModFix/>
          </a:blip>
          <a:srcRect b="-1" l="30943" r="17220" t="0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Learning Assessment Question 1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838200" y="3124131"/>
            <a:ext cx="384823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the yield curve show?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Bond yields over different maturities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The inflation rate trend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company’s credit rating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Daily bond trading volume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2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838200" y="3124131"/>
            <a:ext cx="467166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a flat yield curve indicate?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Large difference in long- and short-term rates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Similar yields across maturities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Strong economic growth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High inflation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3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838200" y="3124131"/>
            <a:ext cx="537839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main purpose of duration analysis?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To measure bond price sensitivity to interest rates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To calculate credit scores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To estimate future inflation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To determine coupon payment frequency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4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838200" y="3124131"/>
            <a:ext cx="62119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type of bond adjusts for inflation automatically?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Convertible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Junk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c) Treasury Inflation-Protected Security (TIPS)</a:t>
            </a:r>
            <a:b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Corporate bond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 5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838200" y="2985631"/>
            <a:ext cx="6250429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a widening credit spread usually indicate?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Decreasing default risk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Increasing perceived risk in the market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Rising bond prices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Lower volatility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