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2"/>
            <a:ext cx="12192000" cy="6857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1000">
                <a:srgbClr val="000000"/>
              </a:gs>
              <a:gs pos="100000">
                <a:srgbClr val="2F5496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472C4">
                  <a:alpha val="49803"/>
                </a:srgbClr>
              </a:gs>
              <a:gs pos="100000">
                <a:srgbClr val="1F3864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ock exchange numbers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7063" r="13717" t="0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8DA9DB">
                  <a:alpha val="0"/>
                </a:srgbClr>
              </a:gs>
              <a:gs pos="39000">
                <a:srgbClr val="8DA9DB">
                  <a:alpha val="0"/>
                </a:srgbClr>
              </a:gs>
              <a:gs pos="100000">
                <a:srgbClr val="2F5496">
                  <a:alpha val="2588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>
            <p:ph type="ctrTitle"/>
          </p:nvPr>
        </p:nvSpPr>
        <p:spPr>
          <a:xfrm>
            <a:off x="534473" y="2950387"/>
            <a:ext cx="3052293" cy="3531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</a:rPr>
              <a:t>Intermediate Bonds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777922" y="743803"/>
            <a:ext cx="2808844" cy="1382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686"/>
                </a:srgbClr>
              </a:gs>
              <a:gs pos="23000">
                <a:srgbClr val="2F5496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 How Bonds Work</a:t>
            </a:r>
            <a:endParaRPr/>
          </a:p>
        </p:txBody>
      </p:sp>
      <p:grpSp>
        <p:nvGrpSpPr>
          <p:cNvPr id="100" name="Google Shape;100;p14"/>
          <p:cNvGrpSpPr/>
          <p:nvPr/>
        </p:nvGrpSpPr>
        <p:grpSpPr>
          <a:xfrm>
            <a:off x="4263268" y="2615979"/>
            <a:ext cx="3689405" cy="3689405"/>
            <a:chOff x="3619212" y="0"/>
            <a:chExt cx="3689405" cy="3689405"/>
          </a:xfrm>
        </p:grpSpPr>
        <p:sp>
          <p:nvSpPr>
            <p:cNvPr id="101" name="Google Shape;101;p14"/>
            <p:cNvSpPr/>
            <p:nvPr/>
          </p:nvSpPr>
          <p:spPr>
            <a:xfrm>
              <a:off x="3619212" y="0"/>
              <a:ext cx="3689405" cy="3689405"/>
            </a:xfrm>
            <a:prstGeom prst="quadArrow">
              <a:avLst>
                <a:gd fmla="val 2000" name="adj1"/>
                <a:gd fmla="val 4000" name="adj2"/>
                <a:gd fmla="val 5000" name="adj3"/>
              </a:avLst>
            </a:prstGeom>
            <a:solidFill>
              <a:srgbClr val="F7D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859023" y="239811"/>
              <a:ext cx="1475762" cy="1475762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3931064" y="311852"/>
              <a:ext cx="1331680" cy="1331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Bonds represent </a:t>
              </a:r>
              <a:r>
                <a:rPr b="1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debt instruments</a:t>
              </a:r>
              <a:r>
                <a:rPr b="0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— the issuer borrows funds and agrees to pay: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593043" y="239811"/>
              <a:ext cx="1475762" cy="1475762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5665084" y="311852"/>
              <a:ext cx="1331680" cy="1331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 </a:t>
              </a:r>
              <a:r>
                <a:rPr b="1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fixed coupon rate</a:t>
              </a:r>
              <a:r>
                <a:rPr b="0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at regular intervals (monthly, semi-annually, or annually)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859023" y="1973831"/>
              <a:ext cx="1475762" cy="1475762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3931064" y="2045872"/>
              <a:ext cx="1331680" cy="1331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 </a:t>
              </a:r>
              <a:r>
                <a:rPr b="1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principal</a:t>
              </a:r>
              <a:r>
                <a:rPr b="0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at a specific maturity date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5593043" y="1973831"/>
              <a:ext cx="1475762" cy="1475762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5665084" y="2045872"/>
              <a:ext cx="1331680" cy="1331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 </a:t>
              </a:r>
              <a:r>
                <a:rPr b="1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nominal yield</a:t>
              </a:r>
              <a:r>
                <a:rPr b="0" i="0" lang="en-US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(or coupon rate) is the annual interest expressed as a percentage of the face value.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 Important Terms</a:t>
            </a:r>
            <a:endParaRPr/>
          </a:p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761802" y="2743200"/>
            <a:ext cx="4646905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Nominal Yield: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Annual interest rate based on face value.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Current Yield: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Annual interest divided by the bond’s current market price.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Yield to Maturity (YTM):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The total expected return if held until maturity.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Par Value: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The bond’s original or face value repaid at maturity.</a:t>
            </a:r>
            <a:endParaRPr/>
          </a:p>
        </p:txBody>
      </p:sp>
      <p:pic>
        <p:nvPicPr>
          <p:cNvPr descr="Golden wheat against sky" id="118" name="Google Shape;118;p15"/>
          <p:cNvPicPr preferRelativeResize="0"/>
          <p:nvPr/>
        </p:nvPicPr>
        <p:blipFill rotWithShape="1">
          <a:blip r:embed="rId3">
            <a:alphaModFix/>
          </a:blip>
          <a:srcRect b="-2" l="14659" r="25939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Bonds</a:t>
            </a:r>
            <a:endParaRPr/>
          </a:p>
        </p:txBody>
      </p:sp>
      <p:grpSp>
        <p:nvGrpSpPr>
          <p:cNvPr id="124" name="Google Shape;124;p16"/>
          <p:cNvGrpSpPr/>
          <p:nvPr/>
        </p:nvGrpSpPr>
        <p:grpSpPr>
          <a:xfrm>
            <a:off x="1050535" y="2295515"/>
            <a:ext cx="10090929" cy="3411557"/>
            <a:chOff x="212335" y="469890"/>
            <a:chExt cx="10090929" cy="3411557"/>
          </a:xfrm>
        </p:grpSpPr>
        <p:sp>
          <p:nvSpPr>
            <p:cNvPr id="125" name="Google Shape;125;p16"/>
            <p:cNvSpPr/>
            <p:nvPr/>
          </p:nvSpPr>
          <p:spPr>
            <a:xfrm>
              <a:off x="212335" y="469890"/>
              <a:ext cx="1335915" cy="1335915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492877" y="750432"/>
              <a:ext cx="774830" cy="77483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1834517" y="469890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1834517" y="469890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Fixed-Rate Bonds:</a:t>
              </a: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Same coupon payment throughout life.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5532139" y="469890"/>
              <a:ext cx="1335915" cy="1335915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5812681" y="750432"/>
              <a:ext cx="774830" cy="77483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7154322" y="469890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7154322" y="469890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Zero-Coupon Bonds:</a:t>
              </a: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No regular interest; sold at a discount and pay full value at maturity.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212335" y="2545532"/>
              <a:ext cx="1335915" cy="1335915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492877" y="2826074"/>
              <a:ext cx="774830" cy="77483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1834517" y="2545532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1834517" y="2545532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Inflation-Linked Bonds:</a:t>
              </a: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Adjust returns for inflation.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5532139" y="2545532"/>
              <a:ext cx="1335915" cy="1335915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5812681" y="2826074"/>
              <a:ext cx="774830" cy="77483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7154322" y="2545532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7154322" y="2545532"/>
              <a:ext cx="3148942" cy="133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Callable Bonds:</a:t>
              </a: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Can be repaid early by the issuer.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686"/>
                </a:srgbClr>
              </a:gs>
              <a:gs pos="23000">
                <a:srgbClr val="2F5496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Risks</a:t>
            </a:r>
            <a:endParaRPr/>
          </a:p>
        </p:txBody>
      </p:sp>
      <p:grpSp>
        <p:nvGrpSpPr>
          <p:cNvPr id="150" name="Google Shape;150;p17"/>
          <p:cNvGrpSpPr/>
          <p:nvPr/>
        </p:nvGrpSpPr>
        <p:grpSpPr>
          <a:xfrm>
            <a:off x="704046" y="3183141"/>
            <a:ext cx="10807848" cy="2555080"/>
            <a:chOff x="59990" y="567162"/>
            <a:chExt cx="10807848" cy="2555080"/>
          </a:xfrm>
        </p:grpSpPr>
        <p:sp>
          <p:nvSpPr>
            <p:cNvPr id="151" name="Google Shape;151;p17"/>
            <p:cNvSpPr/>
            <p:nvPr/>
          </p:nvSpPr>
          <p:spPr>
            <a:xfrm>
              <a:off x="947201" y="567162"/>
              <a:ext cx="1451800" cy="1451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59990" y="2402242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59990" y="2402242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Interest Rate Risk: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When rates go up, bond prices fall.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4738014" y="567162"/>
              <a:ext cx="1451800" cy="1451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3850802" y="2402242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3850802" y="2402242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Credit Risk: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Default by issuer.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8528826" y="567162"/>
              <a:ext cx="1451800" cy="1451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7641615" y="2402242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7641615" y="2402242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Liquidity Risk: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Hard to sell before maturity.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>
            <p:ph type="title"/>
          </p:nvPr>
        </p:nvSpPr>
        <p:spPr>
          <a:xfrm>
            <a:off x="2187363" y="1671569"/>
            <a:ext cx="5801917" cy="222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Tax Considerations</a:t>
            </a:r>
            <a:endParaRPr/>
          </a:p>
        </p:txBody>
      </p:sp>
      <p:pic>
        <p:nvPicPr>
          <p:cNvPr descr="Dollar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948" y="2694018"/>
            <a:ext cx="1198532" cy="11985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2187364" y="4072044"/>
            <a:ext cx="5801917" cy="2057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government or municipal bonds are 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tax-free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while others may have interest income taxed at federal or state levels.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ollar" id="168" name="Google Shape;168;p18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6641431" y="816337"/>
            <a:ext cx="5225327" cy="5225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>
            <p:ph type="title"/>
          </p:nvPr>
        </p:nvSpPr>
        <p:spPr>
          <a:xfrm>
            <a:off x="838200" y="365125"/>
            <a:ext cx="555848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 Conclusion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838200" y="1825625"/>
            <a:ext cx="55584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Intermediate investors use bonds strategically for portfolio diversification, risk management, and income stability while balancing interest rate sensitivity and credit quality.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cap="flat" cmpd="sng" w="1270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 rot="-5400000">
            <a:off x="8912417" y="1218531"/>
            <a:ext cx="2387600" cy="23876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821310" y="0"/>
            <a:ext cx="2315251" cy="1550992"/>
          </a:xfrm>
          <a:custGeom>
            <a:rect b="b" l="l" r="r" t="t"/>
            <a:pathLst>
              <a:path extrusionOk="0" h="1550992" w="2315251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9"/>
          <p:cNvCxnSpPr/>
          <p:nvPr/>
        </p:nvCxnSpPr>
        <p:spPr>
          <a:xfrm>
            <a:off x="11724638" y="1331572"/>
            <a:ext cx="0" cy="1597708"/>
          </a:xfrm>
          <a:prstGeom prst="straightConnector1">
            <a:avLst/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81" name="Google Shape;181;p19"/>
          <p:cNvSpPr/>
          <p:nvPr/>
        </p:nvSpPr>
        <p:spPr>
          <a:xfrm>
            <a:off x="11005550" y="4112081"/>
            <a:ext cx="1186451" cy="1771650"/>
          </a:xfrm>
          <a:custGeom>
            <a:rect b="b" l="l" r="r" t="t"/>
            <a:pathLst>
              <a:path extrusionOk="0" h="1771650" w="1186451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 rot="-607105">
            <a:off x="6086940" y="4145122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821310" y="4962670"/>
            <a:ext cx="2643352" cy="1895331"/>
          </a:xfrm>
          <a:custGeom>
            <a:rect b="b" l="l" r="r" t="t"/>
            <a:pathLst>
              <a:path extrusionOk="0" h="1895331" w="2643352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Learning Assessment Question 1 </a:t>
            </a:r>
            <a:endParaRPr/>
          </a:p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838200" y="3124131"/>
            <a:ext cx="491365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“nominal yield” of a bond?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The interest rate based on the bond’s face value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The price change over time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The profit from selling the bond early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The amount lost to inflation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2</a:t>
            </a:r>
            <a:endParaRPr/>
          </a:p>
        </p:txBody>
      </p:sp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838200" y="3124131"/>
            <a:ext cx="514756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type of bond pays no regular interest?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Corporate bond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Zero-coupon bond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Municipal bond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Treasury bond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3</a:t>
            </a:r>
            <a:endParaRPr/>
          </a:p>
        </p:txBody>
      </p:sp>
      <p:sp>
        <p:nvSpPr>
          <p:cNvPr id="201" name="Google Shape;201;p22"/>
          <p:cNvSpPr txBox="1"/>
          <p:nvPr>
            <p:ph idx="1" type="body"/>
          </p:nvPr>
        </p:nvSpPr>
        <p:spPr>
          <a:xfrm>
            <a:off x="838200" y="3124131"/>
            <a:ext cx="589135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do companies usually pay interest on bonds?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Randomly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On predetermined intervals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Only at maturity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When stock prices rise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4</a:t>
            </a:r>
            <a:endParaRPr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838200" y="3124131"/>
            <a:ext cx="454483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happens when interest rates rise?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Bond prices rise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Bond prices fall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Bond prices stay the same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Coupons increase automatically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5</a:t>
            </a:r>
            <a:endParaRPr/>
          </a:p>
        </p:txBody>
      </p:sp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838200" y="3124131"/>
            <a:ext cx="358527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bond type is often tax-free?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Corporate bonds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b) Municipal bonds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Foreign bonds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Junk bonds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