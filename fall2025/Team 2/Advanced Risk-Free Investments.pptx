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on laser lights aligned to form a triangle"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10000"/>
          <a:stretch/>
        </p:blipFill>
        <p:spPr>
          <a:xfrm>
            <a:off x="20" y="10"/>
            <a:ext cx="1219197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>
            <p:ph type="ctrTitle"/>
          </p:nvPr>
        </p:nvSpPr>
        <p:spPr>
          <a:xfrm>
            <a:off x="438910" y="978408"/>
            <a:ext cx="4795819" cy="396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Advanced Risk-Free Investments</a:t>
            </a:r>
            <a:endParaRPr/>
          </a:p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526485" y="3739669"/>
            <a:ext cx="43815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521208" y="978408"/>
            <a:ext cx="628192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/>
              <a:t>Theoretical Definition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521208" y="2578608"/>
            <a:ext cx="6281928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financial theory, a 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risk-free asset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is one that provides a 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guaranteed real return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in all states of the economy.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practice, no asset is entirely risk-free due to factors like inflation and sovereign default risk.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ollar" id="105" name="Google Shape;1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7668" y="1994644"/>
            <a:ext cx="4356461" cy="4356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/>
              <a:t>2. Role in Financial Models</a:t>
            </a:r>
            <a:endParaRPr/>
          </a:p>
        </p:txBody>
      </p:sp>
      <p:grpSp>
        <p:nvGrpSpPr>
          <p:cNvPr id="111" name="Google Shape;111;p17"/>
          <p:cNvGrpSpPr/>
          <p:nvPr/>
        </p:nvGrpSpPr>
        <p:grpSpPr>
          <a:xfrm>
            <a:off x="838405" y="2513295"/>
            <a:ext cx="10515189" cy="2975997"/>
            <a:chOff x="205" y="687670"/>
            <a:chExt cx="10515189" cy="2975997"/>
          </a:xfrm>
        </p:grpSpPr>
        <p:sp>
          <p:nvSpPr>
            <p:cNvPr id="112" name="Google Shape;112;p17"/>
            <p:cNvSpPr/>
            <p:nvPr/>
          </p:nvSpPr>
          <p:spPr>
            <a:xfrm>
              <a:off x="205" y="687670"/>
              <a:ext cx="2479997" cy="2975996"/>
            </a:xfrm>
            <a:prstGeom prst="rect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 txBox="1"/>
            <p:nvPr/>
          </p:nvSpPr>
          <p:spPr>
            <a:xfrm>
              <a:off x="205" y="1878069"/>
              <a:ext cx="2479997" cy="17855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44950" spcFirstLastPara="1" rIns="244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 </a:t>
              </a:r>
              <a:r>
                <a:rPr b="1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risk-free rate</a:t>
              </a:r>
              <a:r>
                <a:rPr b="0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 is used in major valuation and portfolio models: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205" y="687670"/>
              <a:ext cx="2479997" cy="1190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 txBox="1"/>
            <p:nvPr/>
          </p:nvSpPr>
          <p:spPr>
            <a:xfrm>
              <a:off x="205" y="687670"/>
              <a:ext cx="2479997" cy="1190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244950" spcFirstLastPara="1" rIns="2449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100"/>
                <a:buFont typeface="Calibri"/>
                <a:buNone/>
              </a:pPr>
              <a:r>
                <a:rPr b="0" i="0" lang="en-US" sz="6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2678602" y="687670"/>
              <a:ext cx="2479997" cy="2975996"/>
            </a:xfrm>
            <a:prstGeom prst="rect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 txBox="1"/>
            <p:nvPr/>
          </p:nvSpPr>
          <p:spPr>
            <a:xfrm>
              <a:off x="2678602" y="1878069"/>
              <a:ext cx="2479997" cy="17855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44950" spcFirstLastPara="1" rIns="244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CAPM (Capital Asset Pricing Model):</a:t>
              </a:r>
              <a:r>
                <a:rPr b="0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 Baseline for expected returns.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2678602" y="687670"/>
              <a:ext cx="2479997" cy="1190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 txBox="1"/>
            <p:nvPr/>
          </p:nvSpPr>
          <p:spPr>
            <a:xfrm>
              <a:off x="2678602" y="687670"/>
              <a:ext cx="2479997" cy="1190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244950" spcFirstLastPara="1" rIns="2449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100"/>
                <a:buFont typeface="Calibri"/>
                <a:buNone/>
              </a:pPr>
              <a:r>
                <a:rPr b="0" i="0" lang="en-US" sz="6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5356999" y="687670"/>
              <a:ext cx="2479997" cy="2975996"/>
            </a:xfrm>
            <a:prstGeom prst="rect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5356999" y="1878069"/>
              <a:ext cx="2479997" cy="17855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44950" spcFirstLastPara="1" rIns="244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Black-Scholes Model:</a:t>
              </a:r>
              <a:r>
                <a:rPr b="0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 Option pricing using continuous compounding of the risk-free rate.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5356999" y="687670"/>
              <a:ext cx="2479997" cy="1190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5356999" y="687670"/>
              <a:ext cx="2479997" cy="1190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244950" spcFirstLastPara="1" rIns="2449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100"/>
                <a:buFont typeface="Calibri"/>
                <a:buNone/>
              </a:pPr>
              <a:r>
                <a:rPr b="0" i="0" lang="en-US" sz="6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8035397" y="687670"/>
              <a:ext cx="2479997" cy="2975996"/>
            </a:xfrm>
            <a:prstGeom prst="rect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8035397" y="1878069"/>
              <a:ext cx="2479997" cy="17855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44950" spcFirstLastPara="1" rIns="244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Sharpe Ratio:</a:t>
              </a:r>
              <a:r>
                <a:rPr b="0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 Measures risk-adjusted returns relative to the risk-free benchmark.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8035397" y="687670"/>
              <a:ext cx="2479997" cy="1190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8035397" y="687670"/>
              <a:ext cx="2479997" cy="1190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244950" spcFirstLastPara="1" rIns="2449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100"/>
                <a:buFont typeface="Calibri"/>
                <a:buNone/>
              </a:pPr>
              <a:r>
                <a:rPr b="0" i="0" lang="en-US" sz="6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8079978" y="741391"/>
            <a:ext cx="3369234" cy="1616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US" sz="2700"/>
              <a:t>3. Types of Near Risk-Free Assets</a:t>
            </a:r>
            <a:br>
              <a:rPr lang="en-US" sz="2700"/>
            </a:br>
            <a:br>
              <a:rPr lang="en-US" sz="2700"/>
            </a:br>
            <a:endParaRPr sz="2700"/>
          </a:p>
        </p:txBody>
      </p:sp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8079978" y="2533476"/>
            <a:ext cx="3369234" cy="3447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U.S. Treasury Bills and Inflation-Protected Securities (TIPS)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Overnight Repo Agreements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Sovereign Bonds from stable countries (AAA-rated)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gnifying glass showing decling performance" id="134" name="Google Shape;134;p18"/>
          <p:cNvPicPr preferRelativeResize="0"/>
          <p:nvPr/>
        </p:nvPicPr>
        <p:blipFill rotWithShape="1">
          <a:blip r:embed="rId3">
            <a:alphaModFix/>
          </a:blip>
          <a:srcRect b="-1" l="7474" r="20594" t="0"/>
          <a:stretch/>
        </p:blipFill>
        <p:spPr>
          <a:xfrm>
            <a:off x="20" y="10"/>
            <a:ext cx="7390243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 txBox="1"/>
          <p:nvPr>
            <p:ph type="title"/>
          </p:nvPr>
        </p:nvSpPr>
        <p:spPr>
          <a:xfrm>
            <a:off x="1075767" y="1188637"/>
            <a:ext cx="2988234" cy="4480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0" lang="en-US" sz="3600"/>
              <a:t>4. Advanced Considerations</a:t>
            </a:r>
            <a:endParaRPr sz="3600"/>
          </a:p>
        </p:txBody>
      </p:sp>
      <p:cxnSp>
        <p:nvCxnSpPr>
          <p:cNvPr id="143" name="Google Shape;143;p19"/>
          <p:cNvCxnSpPr/>
          <p:nvPr/>
        </p:nvCxnSpPr>
        <p:spPr>
          <a:xfrm>
            <a:off x="4654296" y="1852863"/>
            <a:ext cx="0" cy="3236495"/>
          </a:xfrm>
          <a:prstGeom prst="straightConnector1">
            <a:avLst/>
          </a:prstGeom>
          <a:noFill/>
          <a:ln cap="sq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5255260" y="1648870"/>
            <a:ext cx="4702848" cy="3560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270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Duration &amp; Convexity: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Measure sensitivity of bond prices to interest rate changes.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Yield Spread: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Difference between risky and risk-free returns.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Currency &amp; Sovereign Risks: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Real-world deviations from “risk-free” assumptions.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Portfolio Integration: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Combining risk-free and risky assets to form an </a:t>
            </a:r>
            <a:r>
              <a:rPr b="0" i="1" lang="en-US" sz="2000" u="none" cap="none" strike="noStrike">
                <a:latin typeface="Arial"/>
                <a:ea typeface="Arial"/>
                <a:cs typeface="Arial"/>
                <a:sym typeface="Arial"/>
              </a:rPr>
              <a:t>efficient frontier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 txBox="1"/>
          <p:nvPr>
            <p:ph type="title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0" lang="en-US" sz="5400"/>
              <a:t>5. Conclusion</a:t>
            </a:r>
            <a:endParaRPr sz="5400"/>
          </a:p>
        </p:txBody>
      </p:sp>
      <p:sp>
        <p:nvSpPr>
          <p:cNvPr id="151" name="Google Shape;151;p20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640080" y="2872899"/>
            <a:ext cx="4243589" cy="3320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Advanced investors use the </a:t>
            </a: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risk-free rate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to measure performance, price assets, and integrate safe instruments into portfolios to </a:t>
            </a: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optimize returns relative to risk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sk with productivity items" id="153" name="Google Shape;153;p20"/>
          <p:cNvPicPr preferRelativeResize="0"/>
          <p:nvPr/>
        </p:nvPicPr>
        <p:blipFill rotWithShape="1">
          <a:blip r:embed="rId3">
            <a:alphaModFix/>
          </a:blip>
          <a:srcRect b="-1" l="24148" r="8898" t="0"/>
          <a:stretch/>
        </p:blipFill>
        <p:spPr>
          <a:xfrm>
            <a:off x="5311702" y="10"/>
            <a:ext cx="6878775" cy="685799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Learning Assessment Questions</a:t>
            </a:r>
            <a:endParaRPr/>
          </a:p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What does a truly risk-free asset provide in theory?</a:t>
            </a:r>
            <a:br>
              <a:rPr lang="en-US"/>
            </a:br>
            <a:r>
              <a:rPr lang="en-US">
                <a:highlight>
                  <a:srgbClr val="FFFF00"/>
                </a:highlight>
              </a:rPr>
              <a:t>a) A guaranteed real return in all conditions</a:t>
            </a:r>
            <a:br>
              <a:rPr lang="en-US"/>
            </a:br>
            <a:r>
              <a:rPr lang="en-US"/>
              <a:t>b) A fixed nominal return only</a:t>
            </a:r>
            <a:br>
              <a:rPr lang="en-US"/>
            </a:br>
            <a:r>
              <a:rPr lang="en-US"/>
              <a:t>c) No interest payments</a:t>
            </a:r>
            <a:br>
              <a:rPr lang="en-US"/>
            </a:br>
            <a:r>
              <a:rPr lang="en-US"/>
              <a:t>d) A variable yield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Question 2</a:t>
            </a:r>
            <a:endParaRPr/>
          </a:p>
        </p:txBody>
      </p:sp>
      <p:sp>
        <p:nvSpPr>
          <p:cNvPr id="165" name="Google Shape;165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Which financial model uses the risk-free rate in derivative pricing?</a:t>
            </a:r>
            <a:br>
              <a:rPr lang="en-US"/>
            </a:br>
            <a:r>
              <a:rPr lang="en-US">
                <a:highlight>
                  <a:srgbClr val="FFFF00"/>
                </a:highlight>
              </a:rPr>
              <a:t>a) Black-Scholes Model</a:t>
            </a:r>
            <a:br>
              <a:rPr lang="en-US"/>
            </a:br>
            <a:r>
              <a:rPr lang="en-US"/>
              <a:t>b) Gordon Growth Model</a:t>
            </a:r>
            <a:br>
              <a:rPr lang="en-US"/>
            </a:br>
            <a:r>
              <a:rPr lang="en-US"/>
              <a:t>c) Dividend Discount Model</a:t>
            </a:r>
            <a:br>
              <a:rPr lang="en-US"/>
            </a:br>
            <a:r>
              <a:rPr lang="en-US"/>
              <a:t>d) Arbitrage Pricing Theory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Question 3</a:t>
            </a:r>
            <a:endParaRPr/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Why can no asset be completely risk-free in practice?</a:t>
            </a:r>
            <a:br>
              <a:rPr lang="en-US"/>
            </a:br>
            <a:r>
              <a:rPr lang="en-US"/>
              <a:t>a) Because inflation, default, or currency risks may exist</a:t>
            </a:r>
            <a:br>
              <a:rPr lang="en-US"/>
            </a:br>
            <a:r>
              <a:rPr lang="en-US">
                <a:highlight>
                  <a:srgbClr val="FFFF00"/>
                </a:highlight>
              </a:rPr>
              <a:t>b) Because investors change expectations</a:t>
            </a:r>
            <a:br>
              <a:rPr lang="en-US"/>
            </a:br>
            <a:r>
              <a:rPr lang="en-US"/>
              <a:t>c) Because markets are unpredictable</a:t>
            </a:r>
            <a:br>
              <a:rPr lang="en-US"/>
            </a:br>
            <a:r>
              <a:rPr lang="en-US"/>
              <a:t>d) Because of government intervention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Question 4</a:t>
            </a:r>
            <a:endParaRPr/>
          </a:p>
        </p:txBody>
      </p:sp>
      <p:sp>
        <p:nvSpPr>
          <p:cNvPr id="177" name="Google Shape;177;p24"/>
          <p:cNvSpPr txBox="1"/>
          <p:nvPr>
            <p:ph idx="1" type="body"/>
          </p:nvPr>
        </p:nvSpPr>
        <p:spPr>
          <a:xfrm>
            <a:off x="521208" y="3723608"/>
            <a:ext cx="595547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“portfolio integration” in risk-free investing?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a) Combining safe and risky assets to optimize returns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Investing only in one asset type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Avoiding all market exposure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Holding only short-term cash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Question 5</a:t>
            </a:r>
            <a:endParaRPr/>
          </a:p>
        </p:txBody>
      </p:sp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What does a yield spread measure?</a:t>
            </a:r>
            <a:br>
              <a:rPr lang="en-US"/>
            </a:br>
            <a:r>
              <a:rPr lang="en-US">
                <a:highlight>
                  <a:srgbClr val="FFFF00"/>
                </a:highlight>
              </a:rPr>
              <a:t>a) The difference between risky and risk-free returns</a:t>
            </a:r>
            <a:br>
              <a:rPr lang="en-US"/>
            </a:br>
            <a:r>
              <a:rPr lang="en-US"/>
              <a:t>b) The average inflation rate</a:t>
            </a:r>
            <a:br>
              <a:rPr lang="en-US"/>
            </a:br>
            <a:r>
              <a:rPr lang="en-US"/>
              <a:t>c) The cost of government borrowing</a:t>
            </a:r>
            <a:br>
              <a:rPr lang="en-US"/>
            </a:br>
            <a:r>
              <a:rPr lang="en-US"/>
              <a:t>d) The return of real estate vs stocks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