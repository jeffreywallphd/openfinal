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</p:sldIdLst>
  <p:sldSz cy="6858000" cx="12192000"/>
  <p:notesSz cx="6858000" cy="9144000"/>
  <p:embeddedFontLst>
    <p:embeddedFont>
      <p:font typeface="Play"/>
      <p:regular r:id="rId18"/>
      <p:bold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font" Target="fonts/Play-bold.fntdata"/><Relationship Id="rId6" Type="http://schemas.openxmlformats.org/officeDocument/2006/relationships/slide" Target="slides/slide2.xml"/><Relationship Id="rId18" Type="http://schemas.openxmlformats.org/officeDocument/2006/relationships/font" Target="fonts/Play-regular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9ec903cafb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39ec903caf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9ec903cafb_0_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39ec903cafb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9ec903cafb_0_1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39ec903cafb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9ec903cafb_0_1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39ec903cafb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9ec903cafb_0_2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" name="Google Shape;214;g39ec903cafb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26" name="Google Shape;26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6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6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6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b="0" i="0" sz="4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jpg"/><Relationship Id="rId4" Type="http://schemas.openxmlformats.org/officeDocument/2006/relationships/image" Target="../media/image1.png"/><Relationship Id="rId5" Type="http://schemas.openxmlformats.org/officeDocument/2006/relationships/image" Target="../media/image6.png"/><Relationship Id="rId6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-1" y="0"/>
            <a:ext cx="1218895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Windmills" id="85" name="Google Shape;85;p13"/>
          <p:cNvPicPr preferRelativeResize="0"/>
          <p:nvPr/>
        </p:nvPicPr>
        <p:blipFill rotWithShape="1">
          <a:blip r:embed="rId3">
            <a:alphaModFix/>
          </a:blip>
          <a:srcRect b="0" l="0" r="1" t="284"/>
          <a:stretch/>
        </p:blipFill>
        <p:spPr>
          <a:xfrm>
            <a:off x="-3047" y="10"/>
            <a:ext cx="12191999" cy="685799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/>
          <p:nvPr/>
        </p:nvSpPr>
        <p:spPr>
          <a:xfrm>
            <a:off x="0" y="2207602"/>
            <a:ext cx="12191999" cy="316214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25000">
                <a:srgbClr val="000000">
                  <a:alpha val="14901"/>
                </a:srgbClr>
              </a:gs>
              <a:gs pos="50000">
                <a:srgbClr val="000000">
                  <a:alpha val="29803"/>
                </a:srgbClr>
              </a:gs>
              <a:gs pos="75000">
                <a:srgbClr val="000000">
                  <a:alpha val="14901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13"/>
          <p:cNvSpPr txBox="1"/>
          <p:nvPr>
            <p:ph type="ctrTitle"/>
          </p:nvPr>
        </p:nvSpPr>
        <p:spPr>
          <a:xfrm>
            <a:off x="1097280" y="325550"/>
            <a:ext cx="10058400" cy="3574778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Play"/>
              <a:buNone/>
            </a:pPr>
            <a:r>
              <a:rPr lang="en-US" sz="5200">
                <a:solidFill>
                  <a:srgbClr val="FFFFFF"/>
                </a:solidFill>
              </a:rPr>
              <a:t>Beginner Risk-Free Investments</a:t>
            </a:r>
            <a:endParaRPr/>
          </a:p>
        </p:txBody>
      </p:sp>
      <p:sp>
        <p:nvSpPr>
          <p:cNvPr id="88" name="Google Shape;88;p13"/>
          <p:cNvSpPr txBox="1"/>
          <p:nvPr>
            <p:ph idx="1" type="subTitle"/>
          </p:nvPr>
        </p:nvSpPr>
        <p:spPr>
          <a:xfrm>
            <a:off x="1100051" y="4072043"/>
            <a:ext cx="10058400" cy="1282707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14"/>
          <p:cNvSpPr txBox="1"/>
          <p:nvPr>
            <p:ph type="title"/>
          </p:nvPr>
        </p:nvSpPr>
        <p:spPr>
          <a:xfrm>
            <a:off x="761800" y="762001"/>
            <a:ext cx="5334197" cy="170824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Play"/>
              <a:buNone/>
            </a:pPr>
            <a:r>
              <a:rPr lang="en-US" sz="4000"/>
              <a:t>1. What are Risk-Free Investments?</a:t>
            </a:r>
            <a:endParaRPr/>
          </a:p>
        </p:txBody>
      </p:sp>
      <p:sp>
        <p:nvSpPr>
          <p:cNvPr id="95" name="Google Shape;95;p14"/>
          <p:cNvSpPr txBox="1"/>
          <p:nvPr>
            <p:ph idx="1" type="body"/>
          </p:nvPr>
        </p:nvSpPr>
        <p:spPr>
          <a:xfrm>
            <a:off x="761800" y="2470244"/>
            <a:ext cx="5334197" cy="376983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latin typeface="Arial"/>
                <a:ea typeface="Arial"/>
                <a:cs typeface="Arial"/>
                <a:sym typeface="Arial"/>
              </a:rPr>
              <a:t>A </a:t>
            </a:r>
            <a:r>
              <a:rPr b="1" i="0" lang="en-US" sz="2000" u="none" cap="none" strike="noStrike">
                <a:latin typeface="Arial"/>
                <a:ea typeface="Arial"/>
                <a:cs typeface="Arial"/>
                <a:sym typeface="Arial"/>
              </a:rPr>
              <a:t>risk-free investment</a:t>
            </a:r>
            <a:r>
              <a:rPr b="0" i="0" lang="en-US" sz="2000" u="none" cap="none" strike="noStrike">
                <a:latin typeface="Arial"/>
                <a:ea typeface="Arial"/>
                <a:cs typeface="Arial"/>
                <a:sym typeface="Arial"/>
              </a:rPr>
              <a:t> is one where you are almost certain </a:t>
            </a:r>
            <a:r>
              <a:rPr b="1" i="0" lang="en-US" sz="2000" u="none" cap="none" strike="noStrike">
                <a:latin typeface="Arial"/>
                <a:ea typeface="Arial"/>
                <a:cs typeface="Arial"/>
                <a:sym typeface="Arial"/>
              </a:rPr>
              <a:t>not to lose any money</a:t>
            </a:r>
            <a:r>
              <a:rPr b="0" i="0" lang="en-US" sz="2000" u="none" cap="none" strike="noStrike">
                <a:latin typeface="Arial"/>
                <a:ea typeface="Arial"/>
                <a:cs typeface="Arial"/>
                <a:sym typeface="Arial"/>
              </a:rPr>
              <a:t> and you are </a:t>
            </a:r>
            <a:r>
              <a:rPr b="1" i="0" lang="en-US" sz="2000" u="none" cap="none" strike="noStrike">
                <a:latin typeface="Arial"/>
                <a:ea typeface="Arial"/>
                <a:cs typeface="Arial"/>
                <a:sym typeface="Arial"/>
              </a:rPr>
              <a:t>guaranteed to earn a small, fixed return</a:t>
            </a:r>
            <a:r>
              <a:rPr b="0" i="0" lang="en-US" sz="2000" u="none" cap="none" strike="noStrike">
                <a:latin typeface="Arial"/>
                <a:ea typeface="Arial"/>
                <a:cs typeface="Arial"/>
                <a:sym typeface="Arial"/>
              </a:rPr>
              <a:t>.</a:t>
            </a:r>
            <a:br>
              <a:rPr b="0" i="0" lang="en-US" sz="2000" u="none" cap="none" strike="noStrike"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000" u="none" cap="none" strike="noStrike">
                <a:latin typeface="Arial"/>
                <a:ea typeface="Arial"/>
                <a:cs typeface="Arial"/>
                <a:sym typeface="Arial"/>
              </a:rPr>
              <a:t>These investments are considered the safest options for people who prefer </a:t>
            </a:r>
            <a:r>
              <a:rPr b="1" i="0" lang="en-US" sz="2000" u="none" cap="none" strike="noStrike">
                <a:latin typeface="Arial"/>
                <a:ea typeface="Arial"/>
                <a:cs typeface="Arial"/>
                <a:sym typeface="Arial"/>
              </a:rPr>
              <a:t>security over high profits</a:t>
            </a:r>
            <a:r>
              <a:rPr b="0" i="0" lang="en-US" sz="2000" u="none" cap="none" strike="noStrike"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  <p:pic>
        <p:nvPicPr>
          <p:cNvPr id="96" name="Google Shape;96;p14"/>
          <p:cNvPicPr preferRelativeResize="0"/>
          <p:nvPr/>
        </p:nvPicPr>
        <p:blipFill rotWithShape="1">
          <a:blip r:embed="rId3">
            <a:alphaModFix/>
          </a:blip>
          <a:srcRect b="-1" l="40596" r="15721" t="0"/>
          <a:stretch/>
        </p:blipFill>
        <p:spPr>
          <a:xfrm>
            <a:off x="6857797" y="-10886"/>
            <a:ext cx="5334204" cy="6868886"/>
          </a:xfrm>
          <a:prstGeom prst="rect">
            <a:avLst/>
          </a:prstGeom>
          <a:noFill/>
          <a:ln>
            <a:noFill/>
          </a:ln>
          <a:effectLst>
            <a:outerShdw blurRad="127000" sx="99000" rotWithShape="0" algn="r" dir="10800000" dist="50800" sy="99000">
              <a:srgbClr val="000000">
                <a:alpha val="40000"/>
              </a:srgbClr>
            </a:outerShdw>
          </a:effec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15"/>
          <p:cNvSpPr txBox="1"/>
          <p:nvPr>
            <p:ph type="title"/>
          </p:nvPr>
        </p:nvSpPr>
        <p:spPr>
          <a:xfrm>
            <a:off x="838200" y="365125"/>
            <a:ext cx="5393361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b="0" i="0" lang="en-US" u="none" cap="none" strike="noStrike">
                <a:latin typeface="Arial"/>
                <a:ea typeface="Arial"/>
                <a:cs typeface="Arial"/>
                <a:sym typeface="Arial"/>
              </a:rPr>
              <a:t>2. Why </a:t>
            </a:r>
            <a:r>
              <a:rPr lang="en-US">
                <a:latin typeface="Arial"/>
                <a:ea typeface="Arial"/>
                <a:cs typeface="Arial"/>
                <a:sym typeface="Arial"/>
              </a:rPr>
              <a:t>a</a:t>
            </a:r>
            <a:r>
              <a:rPr b="0" i="0" lang="en-US" u="none" cap="none" strike="noStrike">
                <a:latin typeface="Arial"/>
                <a:ea typeface="Arial"/>
                <a:cs typeface="Arial"/>
                <a:sym typeface="Arial"/>
              </a:rPr>
              <a:t>re They Called “Risk-Free”?</a:t>
            </a:r>
            <a:endParaRPr b="0" i="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3" name="Google Shape;103;p15"/>
          <p:cNvPicPr preferRelativeResize="0"/>
          <p:nvPr/>
        </p:nvPicPr>
        <p:blipFill rotWithShape="1">
          <a:blip r:embed="rId3">
            <a:alphaModFix/>
          </a:blip>
          <a:srcRect b="2" l="7052" r="26449" t="0"/>
          <a:stretch/>
        </p:blipFill>
        <p:spPr>
          <a:xfrm>
            <a:off x="6374920" y="758514"/>
            <a:ext cx="5122238" cy="5122238"/>
          </a:xfrm>
          <a:custGeom>
            <a:rect b="b" l="l" r="r" t="t"/>
            <a:pathLst>
              <a:path extrusionOk="0" h="2663168" w="2663168">
                <a:moveTo>
                  <a:pt x="1331584" y="0"/>
                </a:moveTo>
                <a:cubicBezTo>
                  <a:pt x="2066998" y="0"/>
                  <a:pt x="2663168" y="596170"/>
                  <a:pt x="2663168" y="1331584"/>
                </a:cubicBezTo>
                <a:cubicBezTo>
                  <a:pt x="2663168" y="2066998"/>
                  <a:pt x="2066998" y="2663168"/>
                  <a:pt x="1331584" y="2663168"/>
                </a:cubicBezTo>
                <a:cubicBezTo>
                  <a:pt x="596170" y="2663168"/>
                  <a:pt x="0" y="2066998"/>
                  <a:pt x="0" y="1331584"/>
                </a:cubicBezTo>
                <a:cubicBezTo>
                  <a:pt x="0" y="596170"/>
                  <a:pt x="596170" y="0"/>
                  <a:pt x="1331584" y="0"/>
                </a:cubicBezTo>
                <a:close/>
              </a:path>
            </a:pathLst>
          </a:custGeom>
          <a:noFill/>
          <a:ln>
            <a:noFill/>
          </a:ln>
        </p:spPr>
      </p:pic>
      <p:sp>
        <p:nvSpPr>
          <p:cNvPr id="104" name="Google Shape;104;p15"/>
          <p:cNvSpPr/>
          <p:nvPr/>
        </p:nvSpPr>
        <p:spPr>
          <a:xfrm flipH="1" rot="10389197">
            <a:off x="6261882" y="687822"/>
            <a:ext cx="5471147" cy="5471147"/>
          </a:xfrm>
          <a:prstGeom prst="arc">
            <a:avLst>
              <a:gd fmla="val 16200000" name="adj1"/>
              <a:gd fmla="val 20093138" name="adj2"/>
            </a:avLst>
          </a:prstGeom>
          <a:noFill/>
          <a:ln cap="rnd" cmpd="sng" w="127000">
            <a:solidFill>
              <a:schemeClr val="accent4">
                <a:alpha val="94901"/>
              </a:schemeClr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15"/>
          <p:cNvSpPr/>
          <p:nvPr/>
        </p:nvSpPr>
        <p:spPr>
          <a:xfrm>
            <a:off x="10248561" y="921125"/>
            <a:ext cx="791021" cy="769563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06" name="Google Shape;106;p15"/>
          <p:cNvGrpSpPr/>
          <p:nvPr/>
        </p:nvGrpSpPr>
        <p:grpSpPr>
          <a:xfrm>
            <a:off x="1359211" y="1825625"/>
            <a:ext cx="4351338" cy="4351338"/>
            <a:chOff x="521011" y="0"/>
            <a:chExt cx="4351338" cy="4351338"/>
          </a:xfrm>
        </p:grpSpPr>
        <p:sp>
          <p:nvSpPr>
            <p:cNvPr id="107" name="Google Shape;107;p15"/>
            <p:cNvSpPr/>
            <p:nvPr/>
          </p:nvSpPr>
          <p:spPr>
            <a:xfrm>
              <a:off x="521011" y="0"/>
              <a:ext cx="4351338" cy="4351338"/>
            </a:xfrm>
            <a:prstGeom prst="quadArrow">
              <a:avLst>
                <a:gd fmla="val 2000" name="adj1"/>
                <a:gd fmla="val 4000" name="adj2"/>
                <a:gd fmla="val 5000" name="adj3"/>
              </a:avLst>
            </a:prstGeom>
            <a:solidFill>
              <a:srgbClr val="F6D4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5"/>
            <p:cNvSpPr/>
            <p:nvPr/>
          </p:nvSpPr>
          <p:spPr>
            <a:xfrm>
              <a:off x="803848" y="282836"/>
              <a:ext cx="1740535" cy="1740535"/>
            </a:xfrm>
            <a:prstGeom prst="roundRect">
              <a:avLst>
                <a:gd fmla="val 16667" name="adj"/>
              </a:avLst>
            </a:prstGeom>
            <a:gradFill>
              <a:gsLst>
                <a:gs pos="0">
                  <a:srgbClr val="EC8154"/>
                </a:gs>
                <a:gs pos="50000">
                  <a:srgbClr val="F16E27"/>
                </a:gs>
                <a:gs pos="100000">
                  <a:srgbClr val="DF5D18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5"/>
            <p:cNvSpPr txBox="1"/>
            <p:nvPr/>
          </p:nvSpPr>
          <p:spPr>
            <a:xfrm>
              <a:off x="888814" y="367802"/>
              <a:ext cx="1570603" cy="157060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7150" lIns="57150" spcFirstLastPara="1" rIns="57150" wrap="square" tIns="571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500"/>
                <a:buFont typeface="Arial"/>
                <a:buNone/>
              </a:pPr>
              <a:r>
                <a:rPr b="0" i="0" lang="en-US" sz="15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They are called </a:t>
              </a:r>
              <a:r>
                <a:rPr b="0" i="1" lang="en-US" sz="15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risk-free</a:t>
              </a:r>
              <a:r>
                <a:rPr b="0" i="0" lang="en-US" sz="15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 because:</a:t>
              </a:r>
              <a:endParaRPr b="0" i="0" sz="1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" name="Google Shape;110;p15"/>
            <p:cNvSpPr/>
            <p:nvPr/>
          </p:nvSpPr>
          <p:spPr>
            <a:xfrm>
              <a:off x="2848977" y="282836"/>
              <a:ext cx="1740535" cy="1740535"/>
            </a:xfrm>
            <a:prstGeom prst="roundRect">
              <a:avLst>
                <a:gd fmla="val 16667" name="adj"/>
              </a:avLst>
            </a:prstGeom>
            <a:gradFill>
              <a:gsLst>
                <a:gs pos="0">
                  <a:srgbClr val="497D4C"/>
                </a:gs>
                <a:gs pos="50000">
                  <a:srgbClr val="116F1D"/>
                </a:gs>
                <a:gs pos="100000">
                  <a:srgbClr val="0B6417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5"/>
            <p:cNvSpPr txBox="1"/>
            <p:nvPr/>
          </p:nvSpPr>
          <p:spPr>
            <a:xfrm>
              <a:off x="2933943" y="367802"/>
              <a:ext cx="1570603" cy="157060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7150" lIns="57150" spcFirstLastPara="1" rIns="57150" wrap="square" tIns="571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500"/>
                <a:buFont typeface="Arial"/>
                <a:buNone/>
              </a:pPr>
              <a:r>
                <a:rPr b="0" i="0" lang="en-US" sz="15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The chance of losing your money is </a:t>
              </a:r>
              <a:r>
                <a:rPr b="1" i="0" lang="en-US" sz="15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very low</a:t>
              </a:r>
              <a:r>
                <a:rPr b="0" i="0" lang="en-US" sz="15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.</a:t>
              </a:r>
              <a:endParaRPr b="0" i="0" sz="1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" name="Google Shape;112;p15"/>
            <p:cNvSpPr/>
            <p:nvPr/>
          </p:nvSpPr>
          <p:spPr>
            <a:xfrm>
              <a:off x="803848" y="2327965"/>
              <a:ext cx="1740535" cy="1740535"/>
            </a:xfrm>
            <a:prstGeom prst="roundRect">
              <a:avLst>
                <a:gd fmla="val 16667" name="adj"/>
              </a:avLst>
            </a:prstGeom>
            <a:gradFill>
              <a:gsLst>
                <a:gs pos="0">
                  <a:srgbClr val="47A9DE"/>
                </a:gs>
                <a:gs pos="50000">
                  <a:srgbClr val="00A2DF"/>
                </a:gs>
                <a:gs pos="100000">
                  <a:srgbClr val="0093CC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5"/>
            <p:cNvSpPr txBox="1"/>
            <p:nvPr/>
          </p:nvSpPr>
          <p:spPr>
            <a:xfrm>
              <a:off x="888814" y="2412931"/>
              <a:ext cx="1570603" cy="157060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7150" lIns="57150" spcFirstLastPara="1" rIns="57150" wrap="square" tIns="571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500"/>
                <a:buFont typeface="Arial"/>
                <a:buNone/>
              </a:pPr>
              <a:r>
                <a:rPr b="0" i="0" lang="en-US" sz="15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They are usually backed by </a:t>
              </a:r>
              <a:r>
                <a:rPr b="1" i="0" lang="en-US" sz="15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governments or insured institutions</a:t>
              </a:r>
              <a:r>
                <a:rPr b="0" i="0" lang="en-US" sz="15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.</a:t>
              </a:r>
              <a:endParaRPr b="0" i="0" sz="1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" name="Google Shape;114;p15"/>
            <p:cNvSpPr/>
            <p:nvPr/>
          </p:nvSpPr>
          <p:spPr>
            <a:xfrm>
              <a:off x="2848977" y="2327965"/>
              <a:ext cx="1740535" cy="1740535"/>
            </a:xfrm>
            <a:prstGeom prst="roundRect">
              <a:avLst>
                <a:gd fmla="val 16667" name="adj"/>
              </a:avLst>
            </a:prstGeom>
            <a:gradFill>
              <a:gsLst>
                <a:gs pos="0">
                  <a:srgbClr val="AB4E9D"/>
                </a:gs>
                <a:gs pos="50000">
                  <a:srgbClr val="A62094"/>
                </a:gs>
                <a:gs pos="100000">
                  <a:srgbClr val="961886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5"/>
            <p:cNvSpPr txBox="1"/>
            <p:nvPr/>
          </p:nvSpPr>
          <p:spPr>
            <a:xfrm>
              <a:off x="2933943" y="2412931"/>
              <a:ext cx="1570603" cy="157060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7150" lIns="57150" spcFirstLastPara="1" rIns="57150" wrap="square" tIns="571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500"/>
                <a:buFont typeface="Arial"/>
                <a:buNone/>
              </a:pPr>
              <a:r>
                <a:rPr b="0" i="0" lang="en-US" sz="15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You know in advance how much you’ll earn and when you’ll get your money back.</a:t>
              </a:r>
              <a:endParaRPr b="0" i="0" sz="1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6"/>
          <p:cNvSpPr/>
          <p:nvPr/>
        </p:nvSpPr>
        <p:spPr>
          <a:xfrm>
            <a:off x="-1" y="0"/>
            <a:ext cx="12191999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16"/>
          <p:cNvSpPr/>
          <p:nvPr/>
        </p:nvSpPr>
        <p:spPr>
          <a:xfrm>
            <a:off x="1" y="0"/>
            <a:ext cx="8522446" cy="2285999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596900" sx="90000" rotWithShape="0" algn="t" dir="7140000" dist="304800" sy="90000">
              <a:srgbClr val="000000">
                <a:alpha val="1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16"/>
          <p:cNvSpPr txBox="1"/>
          <p:nvPr>
            <p:ph type="title"/>
          </p:nvPr>
        </p:nvSpPr>
        <p:spPr>
          <a:xfrm>
            <a:off x="761803" y="350196"/>
            <a:ext cx="4646904" cy="1624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Play"/>
              <a:buNone/>
            </a:pPr>
            <a:r>
              <a:rPr lang="en-US" sz="4000"/>
              <a:t>Common Examples</a:t>
            </a:r>
            <a:endParaRPr/>
          </a:p>
        </p:txBody>
      </p:sp>
      <p:sp>
        <p:nvSpPr>
          <p:cNvPr id="123" name="Google Shape;123;p16"/>
          <p:cNvSpPr txBox="1"/>
          <p:nvPr>
            <p:ph idx="1" type="body"/>
          </p:nvPr>
        </p:nvSpPr>
        <p:spPr>
          <a:xfrm>
            <a:off x="761802" y="2743200"/>
            <a:ext cx="4646905" cy="361314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b="1" lang="en-US" sz="1600"/>
              <a:t>Savings Accounts:</a:t>
            </a:r>
            <a:br>
              <a:rPr lang="en-US" sz="1600"/>
            </a:br>
            <a:r>
              <a:rPr lang="en-US" sz="1600"/>
              <a:t>Safe and easy to access; often insured by the government.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b="1" lang="en-US" sz="1600"/>
              <a:t>Certificates of Deposit (CDs):</a:t>
            </a:r>
            <a:br>
              <a:rPr lang="en-US" sz="1600"/>
            </a:br>
            <a:r>
              <a:rPr lang="en-US" sz="1600"/>
              <a:t>Fixed interest rate for locking your money for a set time.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b="1" lang="en-US" sz="1600"/>
              <a:t>Government Bonds (like U.S. Treasury Bills):</a:t>
            </a:r>
            <a:br>
              <a:rPr lang="en-US" sz="1600"/>
            </a:br>
            <a:r>
              <a:rPr lang="en-US" sz="1600"/>
              <a:t>Short-term loans to the government that always pay back with interest.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b="1" lang="en-US" sz="1600"/>
              <a:t>Money Market Accounts or Funds:</a:t>
            </a:r>
            <a:br>
              <a:rPr lang="en-US" sz="1600"/>
            </a:br>
            <a:r>
              <a:rPr lang="en-US" sz="1600"/>
              <a:t>Low-risk accounts that earn small returns by investing in short-term government securities.</a:t>
            </a:r>
            <a:endParaRPr/>
          </a:p>
          <a:p>
            <a:pPr indent="-1270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 sz="1600"/>
          </a:p>
        </p:txBody>
      </p:sp>
      <p:pic>
        <p:nvPicPr>
          <p:cNvPr descr="Calculator, pen, compass, money and a paper with graphs printed on it" id="124" name="Google Shape;124;p16"/>
          <p:cNvPicPr preferRelativeResize="0"/>
          <p:nvPr/>
        </p:nvPicPr>
        <p:blipFill rotWithShape="1">
          <a:blip r:embed="rId3">
            <a:alphaModFix/>
          </a:blip>
          <a:srcRect b="-2" l="25303" r="21080" t="0"/>
          <a:stretch/>
        </p:blipFill>
        <p:spPr>
          <a:xfrm>
            <a:off x="6096000" y="1"/>
            <a:ext cx="6102825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17"/>
          <p:cNvSpPr txBox="1"/>
          <p:nvPr>
            <p:ph type="title"/>
          </p:nvPr>
        </p:nvSpPr>
        <p:spPr>
          <a:xfrm>
            <a:off x="761800" y="762001"/>
            <a:ext cx="5334197" cy="170824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Play"/>
              <a:buNone/>
            </a:pPr>
            <a:r>
              <a:rPr lang="en-US" sz="4000"/>
              <a:t>4. Why People Choose Them</a:t>
            </a:r>
            <a:endParaRPr/>
          </a:p>
        </p:txBody>
      </p:sp>
      <p:sp>
        <p:nvSpPr>
          <p:cNvPr id="131" name="Google Shape;131;p17"/>
          <p:cNvSpPr txBox="1"/>
          <p:nvPr>
            <p:ph idx="1" type="body"/>
          </p:nvPr>
        </p:nvSpPr>
        <p:spPr>
          <a:xfrm>
            <a:off x="761800" y="2470244"/>
            <a:ext cx="5334197" cy="376983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127000" lvl="0" marL="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latin typeface="Arial"/>
                <a:ea typeface="Arial"/>
                <a:cs typeface="Arial"/>
                <a:sym typeface="Arial"/>
              </a:rPr>
              <a:t> </a:t>
            </a:r>
            <a:r>
              <a:rPr b="1" i="0" lang="en-US" sz="2000" u="none" cap="none" strike="noStrike">
                <a:latin typeface="Arial"/>
                <a:ea typeface="Arial"/>
                <a:cs typeface="Arial"/>
                <a:sym typeface="Arial"/>
              </a:rPr>
              <a:t>protect their money</a:t>
            </a:r>
            <a:r>
              <a:rPr b="0" i="0" lang="en-US" sz="2000" u="none" cap="none" strike="noStrike">
                <a:latin typeface="Arial"/>
                <a:ea typeface="Arial"/>
                <a:cs typeface="Arial"/>
                <a:sym typeface="Arial"/>
              </a:rPr>
              <a:t> from loss.</a:t>
            </a:r>
            <a:endParaRPr/>
          </a:p>
          <a:p>
            <a:pPr indent="-127000" lvl="0" marL="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latin typeface="Arial"/>
                <a:ea typeface="Arial"/>
                <a:cs typeface="Arial"/>
                <a:sym typeface="Arial"/>
              </a:rPr>
              <a:t>To </a:t>
            </a:r>
            <a:r>
              <a:rPr b="1" i="0" lang="en-US" sz="2000" u="none" cap="none" strike="noStrike">
                <a:latin typeface="Arial"/>
                <a:ea typeface="Arial"/>
                <a:cs typeface="Arial"/>
                <a:sym typeface="Arial"/>
              </a:rPr>
              <a:t>save for short-term goals</a:t>
            </a:r>
            <a:r>
              <a:rPr b="0" i="0" lang="en-US" sz="2000" u="none" cap="none" strike="noStrike">
                <a:latin typeface="Arial"/>
                <a:ea typeface="Arial"/>
                <a:cs typeface="Arial"/>
                <a:sym typeface="Arial"/>
              </a:rPr>
              <a:t> (like emergencies, tuition, or travel).</a:t>
            </a:r>
            <a:endParaRPr/>
          </a:p>
          <a:p>
            <a:pPr indent="-127000" lvl="0" marL="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latin typeface="Arial"/>
                <a:ea typeface="Arial"/>
                <a:cs typeface="Arial"/>
                <a:sym typeface="Arial"/>
              </a:rPr>
              <a:t>To have a </a:t>
            </a:r>
            <a:r>
              <a:rPr b="1" i="0" lang="en-US" sz="2000" u="none" cap="none" strike="noStrike">
                <a:latin typeface="Arial"/>
                <a:ea typeface="Arial"/>
                <a:cs typeface="Arial"/>
                <a:sym typeface="Arial"/>
              </a:rPr>
              <a:t>stable and predictable income</a:t>
            </a:r>
            <a:r>
              <a:rPr b="0" i="0" lang="en-US" sz="2000" u="none" cap="none" strike="noStrike"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127000" lvl="0" marL="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latin typeface="Arial"/>
                <a:ea typeface="Arial"/>
                <a:cs typeface="Arial"/>
                <a:sym typeface="Arial"/>
              </a:rPr>
              <a:t>To </a:t>
            </a:r>
            <a:r>
              <a:rPr b="1" i="0" lang="en-US" sz="2000" u="none" cap="none" strike="noStrike">
                <a:latin typeface="Arial"/>
                <a:ea typeface="Arial"/>
                <a:cs typeface="Arial"/>
                <a:sym typeface="Arial"/>
              </a:rPr>
              <a:t>diversify</a:t>
            </a:r>
            <a:r>
              <a:rPr b="0" i="0" lang="en-US" sz="2000" u="none" cap="none" strike="noStrike">
                <a:latin typeface="Arial"/>
                <a:ea typeface="Arial"/>
                <a:cs typeface="Arial"/>
                <a:sym typeface="Arial"/>
              </a:rPr>
              <a:t> their investment portfolio with safer options.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Money and passport" id="132" name="Google Shape;132;p17"/>
          <p:cNvPicPr preferRelativeResize="0"/>
          <p:nvPr/>
        </p:nvPicPr>
        <p:blipFill rotWithShape="1">
          <a:blip r:embed="rId3">
            <a:alphaModFix/>
          </a:blip>
          <a:srcRect b="-1" l="40760" r="17886" t="0"/>
          <a:stretch/>
        </p:blipFill>
        <p:spPr>
          <a:xfrm>
            <a:off x="6857797" y="-10886"/>
            <a:ext cx="5334204" cy="6868886"/>
          </a:xfrm>
          <a:prstGeom prst="rect">
            <a:avLst/>
          </a:prstGeom>
          <a:noFill/>
          <a:ln>
            <a:noFill/>
          </a:ln>
          <a:effectLst>
            <a:outerShdw blurRad="127000" sx="99000" rotWithShape="0" algn="r" dir="10800000" dist="50800" sy="99000">
              <a:srgbClr val="000000">
                <a:alpha val="40000"/>
              </a:srgbClr>
            </a:outerShdw>
          </a:effec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18"/>
          <p:cNvSpPr/>
          <p:nvPr/>
        </p:nvSpPr>
        <p:spPr>
          <a:xfrm flipH="1" rot="5400000">
            <a:off x="-1410084" y="1410082"/>
            <a:ext cx="6858000" cy="4037836"/>
          </a:xfrm>
          <a:prstGeom prst="rect">
            <a:avLst/>
          </a:prstGeom>
          <a:gradFill>
            <a:gsLst>
              <a:gs pos="0">
                <a:srgbClr val="000000"/>
              </a:gs>
              <a:gs pos="8000">
                <a:srgbClr val="000000"/>
              </a:gs>
              <a:gs pos="100000">
                <a:srgbClr val="0F4861"/>
              </a:gs>
            </a:gsLst>
            <a:lin ang="30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18"/>
          <p:cNvSpPr/>
          <p:nvPr/>
        </p:nvSpPr>
        <p:spPr>
          <a:xfrm flipH="1" rot="5400000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rgbClr val="156082">
                  <a:alpha val="45882"/>
                </a:srgbClr>
              </a:gs>
              <a:gs pos="100000">
                <a:srgbClr val="156082">
                  <a:alpha val="45882"/>
                </a:srgbClr>
              </a:gs>
            </a:gsLst>
            <a:lin ang="18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18"/>
          <p:cNvSpPr/>
          <p:nvPr/>
        </p:nvSpPr>
        <p:spPr>
          <a:xfrm flipH="1" rot="5400000">
            <a:off x="767923" y="3588085"/>
            <a:ext cx="2501979" cy="4037841"/>
          </a:xfrm>
          <a:prstGeom prst="rect">
            <a:avLst/>
          </a:prstGeom>
          <a:gradFill>
            <a:gsLst>
              <a:gs pos="0">
                <a:srgbClr val="156082">
                  <a:alpha val="28627"/>
                </a:srgbClr>
              </a:gs>
              <a:gs pos="2000">
                <a:srgbClr val="156082">
                  <a:alpha val="28627"/>
                </a:srgbClr>
              </a:gs>
              <a:gs pos="100000">
                <a:srgbClr val="000000">
                  <a:alpha val="29803"/>
                </a:srgbClr>
              </a:gs>
            </a:gsLst>
            <a:lin ang="78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18"/>
          <p:cNvSpPr/>
          <p:nvPr/>
        </p:nvSpPr>
        <p:spPr>
          <a:xfrm rot="-964587">
            <a:off x="-501737" y="969718"/>
            <a:ext cx="3900357" cy="4178958"/>
          </a:xfrm>
          <a:custGeom>
            <a:rect b="b" l="l" r="r" t="t"/>
            <a:pathLst>
              <a:path extrusionOk="0" h="4178958" w="3900357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0">
                <a:srgbClr val="000000">
                  <a:alpha val="0"/>
                </a:srgbClr>
              </a:gs>
              <a:gs pos="29000">
                <a:srgbClr val="000000">
                  <a:alpha val="0"/>
                </a:srgbClr>
              </a:gs>
              <a:gs pos="100000">
                <a:srgbClr val="156082">
                  <a:alpha val="42745"/>
                </a:srgbClr>
              </a:gs>
            </a:gsLst>
            <a:lin ang="18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18"/>
          <p:cNvSpPr/>
          <p:nvPr/>
        </p:nvSpPr>
        <p:spPr>
          <a:xfrm flipH="1" rot="5400000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rgbClr val="43AFE2">
                  <a:alpha val="10980"/>
                </a:srgbClr>
              </a:gs>
              <a:gs pos="100000">
                <a:srgbClr val="43AFE2">
                  <a:alpha val="10980"/>
                </a:srgbClr>
              </a:gs>
            </a:gsLst>
            <a:lin ang="72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18"/>
          <p:cNvSpPr txBox="1"/>
          <p:nvPr>
            <p:ph type="title"/>
          </p:nvPr>
        </p:nvSpPr>
        <p:spPr>
          <a:xfrm>
            <a:off x="586478" y="1683756"/>
            <a:ext cx="3115265" cy="239635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Play"/>
              <a:buNone/>
            </a:pPr>
            <a:r>
              <a:rPr lang="en-US" sz="4000">
                <a:solidFill>
                  <a:srgbClr val="FFFFFF"/>
                </a:solidFill>
              </a:rPr>
              <a:t>5. Advantages</a:t>
            </a:r>
            <a:endParaRPr/>
          </a:p>
        </p:txBody>
      </p:sp>
      <p:grpSp>
        <p:nvGrpSpPr>
          <p:cNvPr id="144" name="Google Shape;144;p18"/>
          <p:cNvGrpSpPr/>
          <p:nvPr/>
        </p:nvGrpSpPr>
        <p:grpSpPr>
          <a:xfrm>
            <a:off x="4906354" y="1255990"/>
            <a:ext cx="6664227" cy="4442819"/>
            <a:chOff x="1302" y="505550"/>
            <a:chExt cx="6664227" cy="4442819"/>
          </a:xfrm>
        </p:grpSpPr>
        <p:sp>
          <p:nvSpPr>
            <p:cNvPr id="145" name="Google Shape;145;p18"/>
            <p:cNvSpPr/>
            <p:nvPr/>
          </p:nvSpPr>
          <p:spPr>
            <a:xfrm>
              <a:off x="1302" y="505550"/>
              <a:ext cx="2776761" cy="1666057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AB4E9D"/>
                </a:gs>
                <a:gs pos="50000">
                  <a:srgbClr val="A62094"/>
                </a:gs>
                <a:gs pos="100000">
                  <a:srgbClr val="961886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" name="Google Shape;146;p18"/>
            <p:cNvSpPr txBox="1"/>
            <p:nvPr/>
          </p:nvSpPr>
          <p:spPr>
            <a:xfrm>
              <a:off x="50099" y="554347"/>
              <a:ext cx="2679167" cy="15684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18100" lIns="118100" spcFirstLastPara="1" rIns="118100" wrap="square" tIns="1181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100"/>
                <a:buFont typeface="Arial"/>
                <a:buNone/>
              </a:pPr>
              <a:r>
                <a:rPr b="0" i="0" lang="en-US" sz="31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Very </a:t>
              </a:r>
              <a:r>
                <a:rPr b="1" i="0" lang="en-US" sz="31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safe and stable</a:t>
              </a:r>
              <a:endParaRPr b="0" i="0" sz="3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" name="Google Shape;147;p18"/>
            <p:cNvSpPr/>
            <p:nvPr/>
          </p:nvSpPr>
          <p:spPr>
            <a:xfrm>
              <a:off x="3022419" y="994260"/>
              <a:ext cx="588673" cy="688636"/>
            </a:xfrm>
            <a:prstGeom prst="rightArrow">
              <a:avLst>
                <a:gd fmla="val 60000" name="adj1"/>
                <a:gd fmla="val 50000" name="adj2"/>
              </a:avLst>
            </a:prstGeom>
            <a:gradFill>
              <a:gsLst>
                <a:gs pos="0">
                  <a:srgbClr val="AB4E9D"/>
                </a:gs>
                <a:gs pos="50000">
                  <a:srgbClr val="A62094"/>
                </a:gs>
                <a:gs pos="100000">
                  <a:srgbClr val="961886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" name="Google Shape;148;p18"/>
            <p:cNvSpPr txBox="1"/>
            <p:nvPr/>
          </p:nvSpPr>
          <p:spPr>
            <a:xfrm>
              <a:off x="3022419" y="1131987"/>
              <a:ext cx="412071" cy="41318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500"/>
                <a:buFont typeface="Arial"/>
                <a:buNone/>
              </a:pPr>
              <a:r>
                <a:t/>
              </a:r>
              <a:endParaRPr b="0" i="0" sz="2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" name="Google Shape;149;p18"/>
            <p:cNvSpPr/>
            <p:nvPr/>
          </p:nvSpPr>
          <p:spPr>
            <a:xfrm>
              <a:off x="3888768" y="505550"/>
              <a:ext cx="2776761" cy="1666057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4F50AC"/>
                </a:gs>
                <a:gs pos="50000">
                  <a:srgbClr val="2326A6"/>
                </a:gs>
                <a:gs pos="100000">
                  <a:srgbClr val="191B97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" name="Google Shape;150;p18"/>
            <p:cNvSpPr txBox="1"/>
            <p:nvPr/>
          </p:nvSpPr>
          <p:spPr>
            <a:xfrm>
              <a:off x="3937565" y="554347"/>
              <a:ext cx="2679167" cy="15684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18100" lIns="118100" spcFirstLastPara="1" rIns="118100" wrap="square" tIns="1181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100"/>
                <a:buFont typeface="Arial"/>
                <a:buNone/>
              </a:pPr>
              <a:r>
                <a:rPr b="1" i="0" lang="en-US" sz="31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Guaranteed returns</a:t>
              </a:r>
              <a:endParaRPr b="0" i="0" sz="3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" name="Google Shape;151;p18"/>
            <p:cNvSpPr/>
            <p:nvPr/>
          </p:nvSpPr>
          <p:spPr>
            <a:xfrm rot="5400000">
              <a:off x="4982813" y="2365980"/>
              <a:ext cx="588673" cy="688636"/>
            </a:xfrm>
            <a:prstGeom prst="rightArrow">
              <a:avLst>
                <a:gd fmla="val 60000" name="adj1"/>
                <a:gd fmla="val 50000" name="adj2"/>
              </a:avLst>
            </a:prstGeom>
            <a:gradFill>
              <a:gsLst>
                <a:gs pos="0">
                  <a:srgbClr val="4F7FAD"/>
                </a:gs>
                <a:gs pos="50000">
                  <a:srgbClr val="246EA7"/>
                </a:gs>
                <a:gs pos="100000">
                  <a:srgbClr val="1A6298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" name="Google Shape;152;p18"/>
            <p:cNvSpPr txBox="1"/>
            <p:nvPr/>
          </p:nvSpPr>
          <p:spPr>
            <a:xfrm>
              <a:off x="5070559" y="2415961"/>
              <a:ext cx="413182" cy="41207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500"/>
                <a:buFont typeface="Arial"/>
                <a:buNone/>
              </a:pPr>
              <a:r>
                <a:t/>
              </a:r>
              <a:endParaRPr b="0" i="0" sz="2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" name="Google Shape;153;p18"/>
            <p:cNvSpPr/>
            <p:nvPr/>
          </p:nvSpPr>
          <p:spPr>
            <a:xfrm>
              <a:off x="3888768" y="3282312"/>
              <a:ext cx="2776761" cy="1666057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4FAF9E"/>
                </a:gs>
                <a:gs pos="50000">
                  <a:srgbClr val="23AA95"/>
                </a:gs>
                <a:gs pos="100000">
                  <a:srgbClr val="199B87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" name="Google Shape;154;p18"/>
            <p:cNvSpPr txBox="1"/>
            <p:nvPr/>
          </p:nvSpPr>
          <p:spPr>
            <a:xfrm>
              <a:off x="3937565" y="3331109"/>
              <a:ext cx="2679167" cy="15684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18100" lIns="118100" spcFirstLastPara="1" rIns="118100" wrap="square" tIns="1181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100"/>
                <a:buFont typeface="Arial"/>
                <a:buNone/>
              </a:pPr>
              <a:r>
                <a:rPr b="1" i="0" lang="en-US" sz="31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Easy to manage and understand</a:t>
              </a:r>
              <a:endParaRPr b="0" i="0" sz="3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" name="Google Shape;155;p18"/>
            <p:cNvSpPr/>
            <p:nvPr/>
          </p:nvSpPr>
          <p:spPr>
            <a:xfrm rot="10800000">
              <a:off x="3055740" y="3771022"/>
              <a:ext cx="588673" cy="688636"/>
            </a:xfrm>
            <a:prstGeom prst="rightArrow">
              <a:avLst>
                <a:gd fmla="val 60000" name="adj1"/>
                <a:gd fmla="val 50000" name="adj2"/>
              </a:avLst>
            </a:prstGeom>
            <a:gradFill>
              <a:gsLst>
                <a:gs pos="0">
                  <a:srgbClr val="63B150"/>
                </a:gs>
                <a:gs pos="50000">
                  <a:srgbClr val="48AC24"/>
                </a:gs>
                <a:gs pos="100000">
                  <a:srgbClr val="3D9D1A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" name="Google Shape;156;p18"/>
            <p:cNvSpPr txBox="1"/>
            <p:nvPr/>
          </p:nvSpPr>
          <p:spPr>
            <a:xfrm>
              <a:off x="3232342" y="3908749"/>
              <a:ext cx="412071" cy="41318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500"/>
                <a:buFont typeface="Arial"/>
                <a:buNone/>
              </a:pPr>
              <a:r>
                <a:t/>
              </a:r>
              <a:endParaRPr b="0" i="0" sz="2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" name="Google Shape;157;p18"/>
            <p:cNvSpPr/>
            <p:nvPr/>
          </p:nvSpPr>
          <p:spPr>
            <a:xfrm>
              <a:off x="1302" y="3282312"/>
              <a:ext cx="2776761" cy="1666057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63B150"/>
                </a:gs>
                <a:gs pos="50000">
                  <a:srgbClr val="48AC24"/>
                </a:gs>
                <a:gs pos="100000">
                  <a:srgbClr val="3D9D1A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" name="Google Shape;158;p18"/>
            <p:cNvSpPr txBox="1"/>
            <p:nvPr/>
          </p:nvSpPr>
          <p:spPr>
            <a:xfrm>
              <a:off x="50099" y="3331109"/>
              <a:ext cx="2679167" cy="15684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18100" lIns="118100" spcFirstLastPara="1" rIns="118100" wrap="square" tIns="1181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100"/>
                <a:buFont typeface="Arial"/>
                <a:buNone/>
              </a:pPr>
              <a:r>
                <a:rPr b="0" i="0" lang="en-US" sz="31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Good for </a:t>
              </a:r>
              <a:r>
                <a:rPr b="1" i="0" lang="en-US" sz="31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beginners and retirees</a:t>
              </a:r>
              <a:endParaRPr b="0" i="0" sz="3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9"/>
          <p:cNvSpPr/>
          <p:nvPr/>
        </p:nvSpPr>
        <p:spPr>
          <a:xfrm>
            <a:off x="-1" y="0"/>
            <a:ext cx="1218895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19"/>
          <p:cNvSpPr txBox="1"/>
          <p:nvPr>
            <p:ph type="title"/>
          </p:nvPr>
        </p:nvSpPr>
        <p:spPr>
          <a:xfrm>
            <a:off x="4553733" y="548464"/>
            <a:ext cx="6798541" cy="167562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Play"/>
              <a:buNone/>
            </a:pPr>
            <a:r>
              <a:rPr lang="en-US" sz="4000"/>
              <a:t>6. Disadvantages</a:t>
            </a:r>
            <a:endParaRPr/>
          </a:p>
        </p:txBody>
      </p:sp>
      <p:pic>
        <p:nvPicPr>
          <p:cNvPr id="165" name="Google Shape;165;p19"/>
          <p:cNvPicPr preferRelativeResize="0"/>
          <p:nvPr/>
        </p:nvPicPr>
        <p:blipFill rotWithShape="1">
          <a:blip r:embed="rId3">
            <a:alphaModFix/>
          </a:blip>
          <a:srcRect b="-1" l="4431" r="54723" t="0"/>
          <a:stretch/>
        </p:blipFill>
        <p:spPr>
          <a:xfrm>
            <a:off x="1" y="10"/>
            <a:ext cx="4196496" cy="685799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6" name="Google Shape;166;p19"/>
          <p:cNvGrpSpPr/>
          <p:nvPr/>
        </p:nvGrpSpPr>
        <p:grpSpPr>
          <a:xfrm>
            <a:off x="4561128" y="3092438"/>
            <a:ext cx="6783750" cy="2340000"/>
            <a:chOff x="7394" y="682608"/>
            <a:chExt cx="6783750" cy="2340000"/>
          </a:xfrm>
        </p:grpSpPr>
        <p:sp>
          <p:nvSpPr>
            <p:cNvPr id="167" name="Google Shape;167;p19"/>
            <p:cNvSpPr/>
            <p:nvPr/>
          </p:nvSpPr>
          <p:spPr>
            <a:xfrm>
              <a:off x="402269" y="682608"/>
              <a:ext cx="1235250" cy="1235250"/>
            </a:xfrm>
            <a:prstGeom prst="round2DiagRect">
              <a:avLst>
                <a:gd fmla="val 29727" name="adj1"/>
                <a:gd fmla="val 0" name="adj2"/>
              </a:avLst>
            </a:prstGeom>
            <a:solidFill>
              <a:srgbClr val="E971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" name="Google Shape;168;p19"/>
            <p:cNvSpPr/>
            <p:nvPr/>
          </p:nvSpPr>
          <p:spPr>
            <a:xfrm>
              <a:off x="665519" y="945858"/>
              <a:ext cx="708750" cy="708750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" name="Google Shape;169;p19"/>
            <p:cNvSpPr/>
            <p:nvPr/>
          </p:nvSpPr>
          <p:spPr>
            <a:xfrm>
              <a:off x="7394" y="2302608"/>
              <a:ext cx="2025000" cy="72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" name="Google Shape;170;p19"/>
            <p:cNvSpPr txBox="1"/>
            <p:nvPr/>
          </p:nvSpPr>
          <p:spPr>
            <a:xfrm>
              <a:off x="7394" y="2302608"/>
              <a:ext cx="2025000" cy="72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00"/>
                <a:buFont typeface="Arial"/>
                <a:buNone/>
              </a:pPr>
              <a:r>
                <a:rPr b="1" i="0" lang="en-US" sz="13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LOW RETURNS</a:t>
              </a:r>
              <a:r>
                <a:rPr b="0" i="0" lang="en-US" sz="13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 COMPARED TO RISKIER INVESTMENTS LIKE STOCKS.</a:t>
              </a:r>
              <a:endPara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" name="Google Shape;171;p19"/>
            <p:cNvSpPr/>
            <p:nvPr/>
          </p:nvSpPr>
          <p:spPr>
            <a:xfrm>
              <a:off x="2781644" y="682608"/>
              <a:ext cx="1235250" cy="1235250"/>
            </a:xfrm>
            <a:prstGeom prst="round2DiagRect">
              <a:avLst>
                <a:gd fmla="val 29727" name="adj1"/>
                <a:gd fmla="val 0" name="adj2"/>
              </a:avLst>
            </a:prstGeom>
            <a:solidFill>
              <a:srgbClr val="176B2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" name="Google Shape;172;p19"/>
            <p:cNvSpPr/>
            <p:nvPr/>
          </p:nvSpPr>
          <p:spPr>
            <a:xfrm>
              <a:off x="3044894" y="945858"/>
              <a:ext cx="708750" cy="708750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" name="Google Shape;173;p19"/>
            <p:cNvSpPr/>
            <p:nvPr/>
          </p:nvSpPr>
          <p:spPr>
            <a:xfrm>
              <a:off x="2386769" y="2302608"/>
              <a:ext cx="2025000" cy="72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" name="Google Shape;174;p19"/>
            <p:cNvSpPr txBox="1"/>
            <p:nvPr/>
          </p:nvSpPr>
          <p:spPr>
            <a:xfrm>
              <a:off x="2386769" y="2302608"/>
              <a:ext cx="2025000" cy="72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00"/>
                <a:buFont typeface="Arial"/>
                <a:buNone/>
              </a:pPr>
              <a:r>
                <a:rPr b="1" i="0" lang="en-US" sz="13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INFLATION</a:t>
              </a:r>
              <a:r>
                <a:rPr b="0" i="0" lang="en-US" sz="13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 CAN REDUCE THE REAL VALUE OF EARNINGS.</a:t>
              </a:r>
              <a:endPara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" name="Google Shape;175;p19"/>
            <p:cNvSpPr/>
            <p:nvPr/>
          </p:nvSpPr>
          <p:spPr>
            <a:xfrm>
              <a:off x="5161019" y="682608"/>
              <a:ext cx="1235250" cy="1235250"/>
            </a:xfrm>
            <a:prstGeom prst="round2DiagRect">
              <a:avLst>
                <a:gd fmla="val 29727" name="adj1"/>
                <a:gd fmla="val 0" name="adj2"/>
              </a:avLst>
            </a:prstGeom>
            <a:solidFill>
              <a:srgbClr val="0C9ED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" name="Google Shape;176;p19"/>
            <p:cNvSpPr/>
            <p:nvPr/>
          </p:nvSpPr>
          <p:spPr>
            <a:xfrm>
              <a:off x="5424269" y="945858"/>
              <a:ext cx="708750" cy="708750"/>
            </a:xfrm>
            <a:prstGeom prst="rect">
              <a:avLst/>
            </a:prstGeom>
            <a:blipFill rotWithShape="1">
              <a:blip r:embed="rId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" name="Google Shape;177;p19"/>
            <p:cNvSpPr/>
            <p:nvPr/>
          </p:nvSpPr>
          <p:spPr>
            <a:xfrm>
              <a:off x="4766144" y="2302608"/>
              <a:ext cx="2025000" cy="72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" name="Google Shape;178;p19"/>
            <p:cNvSpPr txBox="1"/>
            <p:nvPr/>
          </p:nvSpPr>
          <p:spPr>
            <a:xfrm>
              <a:off x="4766144" y="2302608"/>
              <a:ext cx="2025000" cy="72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00"/>
                <a:buFont typeface="Arial"/>
                <a:buNone/>
              </a:pPr>
              <a:r>
                <a:rPr b="1" i="0" lang="en-US" sz="13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LIMITED GROWTH POTENTIAL</a:t>
              </a:r>
              <a:r>
                <a:rPr b="0" i="0" lang="en-US" sz="13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 OVER TIME.</a:t>
              </a:r>
              <a:endPara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20"/>
          <p:cNvSpPr/>
          <p:nvPr/>
        </p:nvSpPr>
        <p:spPr>
          <a:xfrm>
            <a:off x="1" y="-7854"/>
            <a:ext cx="12192000" cy="6865854"/>
          </a:xfrm>
          <a:prstGeom prst="rect">
            <a:avLst/>
          </a:prstGeom>
          <a:solidFill>
            <a:srgbClr val="82766A">
              <a:alpha val="14901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20"/>
          <p:cNvSpPr txBox="1"/>
          <p:nvPr>
            <p:ph type="title"/>
          </p:nvPr>
        </p:nvSpPr>
        <p:spPr>
          <a:xfrm>
            <a:off x="4572001" y="601744"/>
            <a:ext cx="6781800" cy="13386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8. Conclusion</a:t>
            </a:r>
            <a:endParaRPr/>
          </a:p>
        </p:txBody>
      </p:sp>
      <p:pic>
        <p:nvPicPr>
          <p:cNvPr descr="A black umbrella over a piggybank" id="186" name="Google Shape;186;p20"/>
          <p:cNvPicPr preferRelativeResize="0"/>
          <p:nvPr/>
        </p:nvPicPr>
        <p:blipFill rotWithShape="1">
          <a:blip r:embed="rId3">
            <a:alphaModFix/>
          </a:blip>
          <a:srcRect b="0" l="27017" r="28908" t="0"/>
          <a:stretch/>
        </p:blipFill>
        <p:spPr>
          <a:xfrm>
            <a:off x="20" y="10"/>
            <a:ext cx="3754739" cy="6857990"/>
          </a:xfrm>
          <a:custGeom>
            <a:rect b="b" l="l" r="r" t="t"/>
            <a:pathLst>
              <a:path extrusionOk="0" h="6858000" w="3754759">
                <a:moveTo>
                  <a:pt x="0" y="0"/>
                </a:moveTo>
                <a:lnTo>
                  <a:pt x="3405358" y="0"/>
                </a:lnTo>
                <a:lnTo>
                  <a:pt x="3406298" y="5103"/>
                </a:lnTo>
                <a:cubicBezTo>
                  <a:pt x="3408705" y="9272"/>
                  <a:pt x="3410993" y="13534"/>
                  <a:pt x="3408744" y="22806"/>
                </a:cubicBezTo>
                <a:cubicBezTo>
                  <a:pt x="3398212" y="18869"/>
                  <a:pt x="3412504" y="58782"/>
                  <a:pt x="3403554" y="60481"/>
                </a:cubicBezTo>
                <a:cubicBezTo>
                  <a:pt x="3417198" y="75379"/>
                  <a:pt x="3401704" y="83956"/>
                  <a:pt x="3406685" y="104437"/>
                </a:cubicBezTo>
                <a:cubicBezTo>
                  <a:pt x="3412035" y="113935"/>
                  <a:pt x="3413215" y="120918"/>
                  <a:pt x="3408439" y="130745"/>
                </a:cubicBezTo>
                <a:cubicBezTo>
                  <a:pt x="3434362" y="174436"/>
                  <a:pt x="3410826" y="157826"/>
                  <a:pt x="3422002" y="199353"/>
                </a:cubicBezTo>
                <a:cubicBezTo>
                  <a:pt x="3433366" y="235046"/>
                  <a:pt x="3441595" y="275734"/>
                  <a:pt x="3466217" y="309590"/>
                </a:cubicBezTo>
                <a:cubicBezTo>
                  <a:pt x="3473022" y="315692"/>
                  <a:pt x="3476249" y="331335"/>
                  <a:pt x="3473425" y="344525"/>
                </a:cubicBezTo>
                <a:cubicBezTo>
                  <a:pt x="3472938" y="346792"/>
                  <a:pt x="3472286" y="348904"/>
                  <a:pt x="3471491" y="350788"/>
                </a:cubicBezTo>
                <a:cubicBezTo>
                  <a:pt x="3476473" y="380853"/>
                  <a:pt x="3497528" y="490678"/>
                  <a:pt x="3503314" y="524915"/>
                </a:cubicBezTo>
                <a:cubicBezTo>
                  <a:pt x="3495110" y="528110"/>
                  <a:pt x="3511009" y="544789"/>
                  <a:pt x="3506208" y="556205"/>
                </a:cubicBezTo>
                <a:cubicBezTo>
                  <a:pt x="3501906" y="564424"/>
                  <a:pt x="3505727" y="571402"/>
                  <a:pt x="3506503" y="579730"/>
                </a:cubicBezTo>
                <a:cubicBezTo>
                  <a:pt x="3503352" y="590904"/>
                  <a:pt x="3511763" y="626437"/>
                  <a:pt x="3516997" y="635552"/>
                </a:cubicBezTo>
                <a:cubicBezTo>
                  <a:pt x="3534688" y="657082"/>
                  <a:pt x="3524838" y="708447"/>
                  <a:pt x="3538464" y="726388"/>
                </a:cubicBezTo>
                <a:cubicBezTo>
                  <a:pt x="3540659" y="733032"/>
                  <a:pt x="3541735" y="739585"/>
                  <a:pt x="3542115" y="746049"/>
                </a:cubicBezTo>
                <a:lnTo>
                  <a:pt x="3541598" y="764218"/>
                </a:lnTo>
                <a:lnTo>
                  <a:pt x="3538294" y="769538"/>
                </a:lnTo>
                <a:lnTo>
                  <a:pt x="3539714" y="780556"/>
                </a:lnTo>
                <a:lnTo>
                  <a:pt x="3539328" y="783752"/>
                </a:lnTo>
                <a:cubicBezTo>
                  <a:pt x="3538575" y="789859"/>
                  <a:pt x="3537953" y="795880"/>
                  <a:pt x="3537882" y="801812"/>
                </a:cubicBezTo>
                <a:cubicBezTo>
                  <a:pt x="3555332" y="793164"/>
                  <a:pt x="3540143" y="850853"/>
                  <a:pt x="3553763" y="833773"/>
                </a:cubicBezTo>
                <a:cubicBezTo>
                  <a:pt x="3556400" y="864868"/>
                  <a:pt x="3568671" y="840452"/>
                  <a:pt x="3557696" y="878520"/>
                </a:cubicBezTo>
                <a:cubicBezTo>
                  <a:pt x="3574636" y="926170"/>
                  <a:pt x="3572932" y="1002669"/>
                  <a:pt x="3596902" y="1039468"/>
                </a:cubicBezTo>
                <a:cubicBezTo>
                  <a:pt x="3588227" y="1035176"/>
                  <a:pt x="3582669" y="1055878"/>
                  <a:pt x="3587550" y="1069793"/>
                </a:cubicBezTo>
                <a:cubicBezTo>
                  <a:pt x="3553603" y="1054905"/>
                  <a:pt x="3620138" y="1124159"/>
                  <a:pt x="3598129" y="1137690"/>
                </a:cubicBezTo>
                <a:cubicBezTo>
                  <a:pt x="3619154" y="1137277"/>
                  <a:pt x="3657845" y="1198819"/>
                  <a:pt x="3642072" y="1229443"/>
                </a:cubicBezTo>
                <a:cubicBezTo>
                  <a:pt x="3648492" y="1274612"/>
                  <a:pt x="3667414" y="1305895"/>
                  <a:pt x="3662799" y="1353804"/>
                </a:cubicBezTo>
                <a:cubicBezTo>
                  <a:pt x="3665680" y="1355144"/>
                  <a:pt x="3668149" y="1357448"/>
                  <a:pt x="3670319" y="1360420"/>
                </a:cubicBezTo>
                <a:lnTo>
                  <a:pt x="3675717" y="1370453"/>
                </a:lnTo>
                <a:lnTo>
                  <a:pt x="3675458" y="1372456"/>
                </a:lnTo>
                <a:cubicBezTo>
                  <a:pt x="3675775" y="1380261"/>
                  <a:pt x="3677154" y="1384198"/>
                  <a:pt x="3678998" y="1386422"/>
                </a:cubicBezTo>
                <a:lnTo>
                  <a:pt x="3681613" y="1387932"/>
                </a:lnTo>
                <a:lnTo>
                  <a:pt x="3684619" y="1397028"/>
                </a:lnTo>
                <a:lnTo>
                  <a:pt x="3692094" y="1413643"/>
                </a:lnTo>
                <a:lnTo>
                  <a:pt x="3692036" y="1417975"/>
                </a:lnTo>
                <a:lnTo>
                  <a:pt x="3701043" y="1444940"/>
                </a:lnTo>
                <a:lnTo>
                  <a:pt x="3700474" y="1445893"/>
                </a:lnTo>
                <a:cubicBezTo>
                  <a:pt x="3699407" y="1448641"/>
                  <a:pt x="3699006" y="1451835"/>
                  <a:pt x="3699990" y="1456030"/>
                </a:cubicBezTo>
                <a:cubicBezTo>
                  <a:pt x="3688343" y="1458099"/>
                  <a:pt x="3696713" y="1461887"/>
                  <a:pt x="3700642" y="1474079"/>
                </a:cubicBezTo>
                <a:cubicBezTo>
                  <a:pt x="3683431" y="1480016"/>
                  <a:pt x="3700716" y="1509516"/>
                  <a:pt x="3693587" y="1522890"/>
                </a:cubicBezTo>
                <a:cubicBezTo>
                  <a:pt x="3696861" y="1531716"/>
                  <a:pt x="3700010" y="1541157"/>
                  <a:pt x="3702900" y="1551068"/>
                </a:cubicBezTo>
                <a:lnTo>
                  <a:pt x="3708038" y="1631578"/>
                </a:lnTo>
                <a:lnTo>
                  <a:pt x="3698097" y="1716642"/>
                </a:lnTo>
                <a:cubicBezTo>
                  <a:pt x="3699314" y="1747867"/>
                  <a:pt x="3695412" y="1775147"/>
                  <a:pt x="3700384" y="1801382"/>
                </a:cubicBezTo>
                <a:cubicBezTo>
                  <a:pt x="3696845" y="1812311"/>
                  <a:pt x="3695699" y="1822504"/>
                  <a:pt x="3702257" y="1832013"/>
                </a:cubicBezTo>
                <a:cubicBezTo>
                  <a:pt x="3701651" y="1861238"/>
                  <a:pt x="3693313" y="1868713"/>
                  <a:pt x="3700986" y="1886838"/>
                </a:cubicBezTo>
                <a:cubicBezTo>
                  <a:pt x="3687741" y="1903887"/>
                  <a:pt x="3693148" y="1904594"/>
                  <a:pt x="3697545" y="1912087"/>
                </a:cubicBezTo>
                <a:lnTo>
                  <a:pt x="3697885" y="1913171"/>
                </a:lnTo>
                <a:lnTo>
                  <a:pt x="3695987" y="1915505"/>
                </a:lnTo>
                <a:lnTo>
                  <a:pt x="3695284" y="1920179"/>
                </a:lnTo>
                <a:lnTo>
                  <a:pt x="3696499" y="1932787"/>
                </a:lnTo>
                <a:lnTo>
                  <a:pt x="3697473" y="1937503"/>
                </a:lnTo>
                <a:cubicBezTo>
                  <a:pt x="3697953" y="1940760"/>
                  <a:pt x="3698023" y="1942937"/>
                  <a:pt x="3697799" y="1944457"/>
                </a:cubicBezTo>
                <a:lnTo>
                  <a:pt x="3697642" y="1944638"/>
                </a:lnTo>
                <a:lnTo>
                  <a:pt x="3698268" y="1951136"/>
                </a:lnTo>
                <a:cubicBezTo>
                  <a:pt x="3699704" y="1962083"/>
                  <a:pt x="3701457" y="1972719"/>
                  <a:pt x="3703418" y="1982828"/>
                </a:cubicBezTo>
                <a:cubicBezTo>
                  <a:pt x="3694620" y="1991887"/>
                  <a:pt x="3707345" y="2028973"/>
                  <a:pt x="3689767" y="2025705"/>
                </a:cubicBezTo>
                <a:cubicBezTo>
                  <a:pt x="3691896" y="2039367"/>
                  <a:pt x="3699517" y="2047321"/>
                  <a:pt x="3687894" y="2043252"/>
                </a:cubicBezTo>
                <a:cubicBezTo>
                  <a:pt x="3688268" y="2047766"/>
                  <a:pt x="3687435" y="2050599"/>
                  <a:pt x="3686015" y="2052668"/>
                </a:cubicBezTo>
                <a:lnTo>
                  <a:pt x="3685329" y="2053280"/>
                </a:lnTo>
                <a:lnTo>
                  <a:pt x="3690348" y="2083660"/>
                </a:lnTo>
                <a:lnTo>
                  <a:pt x="3689688" y="2087758"/>
                </a:lnTo>
                <a:lnTo>
                  <a:pt x="3694656" y="2107476"/>
                </a:lnTo>
                <a:lnTo>
                  <a:pt x="3696317" y="2117709"/>
                </a:lnTo>
                <a:lnTo>
                  <a:pt x="3698652" y="2120508"/>
                </a:lnTo>
                <a:cubicBezTo>
                  <a:pt x="3700138" y="2123582"/>
                  <a:pt x="3700933" y="2128051"/>
                  <a:pt x="3700157" y="2135655"/>
                </a:cubicBezTo>
                <a:lnTo>
                  <a:pt x="3699626" y="2137431"/>
                </a:lnTo>
                <a:lnTo>
                  <a:pt x="3703486" y="2149795"/>
                </a:lnTo>
                <a:cubicBezTo>
                  <a:pt x="3705184" y="2153754"/>
                  <a:pt x="3707268" y="2157232"/>
                  <a:pt x="3709885" y="2160002"/>
                </a:cubicBezTo>
                <a:cubicBezTo>
                  <a:pt x="3698737" y="2203287"/>
                  <a:pt x="3712805" y="2242927"/>
                  <a:pt x="3712777" y="2289319"/>
                </a:cubicBezTo>
                <a:cubicBezTo>
                  <a:pt x="3693169" y="2310331"/>
                  <a:pt x="3722276" y="2389074"/>
                  <a:pt x="3742794" y="2399589"/>
                </a:cubicBezTo>
                <a:cubicBezTo>
                  <a:pt x="3725319" y="2400703"/>
                  <a:pt x="3751962" y="2457534"/>
                  <a:pt x="3753311" y="2472464"/>
                </a:cubicBezTo>
                <a:cubicBezTo>
                  <a:pt x="3753760" y="2477441"/>
                  <a:pt x="3751399" y="2477762"/>
                  <a:pt x="3743656" y="2469811"/>
                </a:cubicBezTo>
                <a:cubicBezTo>
                  <a:pt x="3746474" y="2485608"/>
                  <a:pt x="3738186" y="2502460"/>
                  <a:pt x="3730339" y="2493869"/>
                </a:cubicBezTo>
                <a:cubicBezTo>
                  <a:pt x="3748556" y="2541387"/>
                  <a:pt x="3736267" y="2613433"/>
                  <a:pt x="3746134" y="2667651"/>
                </a:cubicBezTo>
                <a:cubicBezTo>
                  <a:pt x="3730160" y="2698252"/>
                  <a:pt x="3745496" y="2681337"/>
                  <a:pt x="3743743" y="2712354"/>
                </a:cubicBezTo>
                <a:cubicBezTo>
                  <a:pt x="3759373" y="2703131"/>
                  <a:pt x="3736572" y="2750256"/>
                  <a:pt x="3754759" y="2751060"/>
                </a:cubicBezTo>
                <a:cubicBezTo>
                  <a:pt x="3753864" y="2756679"/>
                  <a:pt x="3752424" y="2762098"/>
                  <a:pt x="3750841" y="2767527"/>
                </a:cubicBezTo>
                <a:lnTo>
                  <a:pt x="3750021" y="2770377"/>
                </a:lnTo>
                <a:lnTo>
                  <a:pt x="3749874" y="2781617"/>
                </a:lnTo>
                <a:lnTo>
                  <a:pt x="3745916" y="2784975"/>
                </a:lnTo>
                <a:lnTo>
                  <a:pt x="3742888" y="2802030"/>
                </a:lnTo>
                <a:cubicBezTo>
                  <a:pt x="3742360" y="2808388"/>
                  <a:pt x="3742498" y="2815196"/>
                  <a:pt x="3743710" y="2822667"/>
                </a:cubicBezTo>
                <a:cubicBezTo>
                  <a:pt x="3751787" y="2840797"/>
                  <a:pt x="3744398" y="2870002"/>
                  <a:pt x="3746201" y="2896003"/>
                </a:cubicBezTo>
                <a:lnTo>
                  <a:pt x="3749006" y="2907846"/>
                </a:lnTo>
                <a:lnTo>
                  <a:pt x="3747206" y="2947037"/>
                </a:lnTo>
                <a:cubicBezTo>
                  <a:pt x="3747030" y="2958176"/>
                  <a:pt x="3747214" y="2969719"/>
                  <a:pt x="3748070" y="2981841"/>
                </a:cubicBezTo>
                <a:lnTo>
                  <a:pt x="3750937" y="3004278"/>
                </a:lnTo>
                <a:lnTo>
                  <a:pt x="3749761" y="3010254"/>
                </a:lnTo>
                <a:cubicBezTo>
                  <a:pt x="3750425" y="3020530"/>
                  <a:pt x="3756245" y="3033889"/>
                  <a:pt x="3749923" y="3032983"/>
                </a:cubicBezTo>
                <a:lnTo>
                  <a:pt x="3752658" y="3044429"/>
                </a:lnTo>
                <a:lnTo>
                  <a:pt x="3748217" y="3056076"/>
                </a:lnTo>
                <a:cubicBezTo>
                  <a:pt x="3747117" y="3057381"/>
                  <a:pt x="3745928" y="3058381"/>
                  <a:pt x="3744691" y="3059042"/>
                </a:cubicBezTo>
                <a:lnTo>
                  <a:pt x="3747123" y="3075102"/>
                </a:lnTo>
                <a:lnTo>
                  <a:pt x="3744190" y="3088509"/>
                </a:lnTo>
                <a:lnTo>
                  <a:pt x="3747093" y="3099930"/>
                </a:lnTo>
                <a:lnTo>
                  <a:pt x="3746799" y="3104743"/>
                </a:lnTo>
                <a:lnTo>
                  <a:pt x="3745610" y="3116729"/>
                </a:lnTo>
                <a:cubicBezTo>
                  <a:pt x="3744666" y="3122891"/>
                  <a:pt x="3743503" y="3129792"/>
                  <a:pt x="3742676" y="3137453"/>
                </a:cubicBezTo>
                <a:lnTo>
                  <a:pt x="3742441" y="3143884"/>
                </a:lnTo>
                <a:lnTo>
                  <a:pt x="3737104" y="3158122"/>
                </a:lnTo>
                <a:cubicBezTo>
                  <a:pt x="3733050" y="3168490"/>
                  <a:pt x="3730374" y="3176626"/>
                  <a:pt x="3733275" y="3185367"/>
                </a:cubicBezTo>
                <a:cubicBezTo>
                  <a:pt x="3728135" y="3200760"/>
                  <a:pt x="3712176" y="3212117"/>
                  <a:pt x="3717639" y="3233769"/>
                </a:cubicBezTo>
                <a:cubicBezTo>
                  <a:pt x="3709851" y="3227497"/>
                  <a:pt x="3717920" y="3258095"/>
                  <a:pt x="3710433" y="3262123"/>
                </a:cubicBezTo>
                <a:cubicBezTo>
                  <a:pt x="3704342" y="3264110"/>
                  <a:pt x="3705370" y="3273856"/>
                  <a:pt x="3703458" y="3281408"/>
                </a:cubicBezTo>
                <a:cubicBezTo>
                  <a:pt x="3697412" y="3287020"/>
                  <a:pt x="3693483" y="3324746"/>
                  <a:pt x="3695027" y="3337739"/>
                </a:cubicBezTo>
                <a:cubicBezTo>
                  <a:pt x="3703095" y="3374177"/>
                  <a:pt x="3679154" y="3404974"/>
                  <a:pt x="3684951" y="3434139"/>
                </a:cubicBezTo>
                <a:cubicBezTo>
                  <a:pt x="3684732" y="3441861"/>
                  <a:pt x="3683615" y="3448308"/>
                  <a:pt x="3681946" y="3453928"/>
                </a:cubicBezTo>
                <a:lnTo>
                  <a:pt x="3675939" y="3468021"/>
                </a:lnTo>
                <a:cubicBezTo>
                  <a:pt x="3674480" y="3468264"/>
                  <a:pt x="3673022" y="3468506"/>
                  <a:pt x="3671563" y="3468748"/>
                </a:cubicBezTo>
                <a:lnTo>
                  <a:pt x="3669360" y="3479164"/>
                </a:lnTo>
                <a:lnTo>
                  <a:pt x="3668060" y="3481325"/>
                </a:lnTo>
                <a:cubicBezTo>
                  <a:pt x="3665560" y="3485437"/>
                  <a:pt x="3663197" y="3489622"/>
                  <a:pt x="3661315" y="3494328"/>
                </a:cubicBezTo>
                <a:cubicBezTo>
                  <a:pt x="3678446" y="3506175"/>
                  <a:pt x="3648136" y="3536311"/>
                  <a:pt x="3664679" y="3537226"/>
                </a:cubicBezTo>
                <a:cubicBezTo>
                  <a:pt x="3657322" y="3565147"/>
                  <a:pt x="3674997" y="3558694"/>
                  <a:pt x="3654205" y="3577551"/>
                </a:cubicBezTo>
                <a:cubicBezTo>
                  <a:pt x="3653633" y="3634248"/>
                  <a:pt x="3628736" y="3694092"/>
                  <a:pt x="3637325" y="3749618"/>
                </a:cubicBezTo>
                <a:cubicBezTo>
                  <a:pt x="3631446" y="3736800"/>
                  <a:pt x="3620480" y="3747498"/>
                  <a:pt x="3620258" y="3763981"/>
                </a:cubicBezTo>
                <a:cubicBezTo>
                  <a:pt x="3596667" y="3715365"/>
                  <a:pt x="3630603" y="3842969"/>
                  <a:pt x="3608193" y="3830141"/>
                </a:cubicBezTo>
                <a:cubicBezTo>
                  <a:pt x="3625759" y="3852486"/>
                  <a:pt x="3638965" y="3943841"/>
                  <a:pt x="3616479" y="3951521"/>
                </a:cubicBezTo>
                <a:cubicBezTo>
                  <a:pt x="3607940" y="3994867"/>
                  <a:pt x="3614033" y="4040502"/>
                  <a:pt x="3595498" y="4074157"/>
                </a:cubicBezTo>
                <a:cubicBezTo>
                  <a:pt x="3597477" y="4078342"/>
                  <a:pt x="3598819" y="4082864"/>
                  <a:pt x="3599706" y="4087599"/>
                </a:cubicBezTo>
                <a:lnTo>
                  <a:pt x="3601103" y="4101515"/>
                </a:lnTo>
                <a:lnTo>
                  <a:pt x="3600274" y="4102849"/>
                </a:lnTo>
                <a:cubicBezTo>
                  <a:pt x="3598143" y="4109482"/>
                  <a:pt x="3598077" y="4114144"/>
                  <a:pt x="3598925" y="4117926"/>
                </a:cubicBezTo>
                <a:lnTo>
                  <a:pt x="3600630" y="4121966"/>
                </a:lnTo>
                <a:lnTo>
                  <a:pt x="3600331" y="4132543"/>
                </a:lnTo>
                <a:lnTo>
                  <a:pt x="3601432" y="4154003"/>
                </a:lnTo>
                <a:lnTo>
                  <a:pt x="3600054" y="4157433"/>
                </a:lnTo>
                <a:lnTo>
                  <a:pt x="3599248" y="4188888"/>
                </a:lnTo>
                <a:cubicBezTo>
                  <a:pt x="3598993" y="4188940"/>
                  <a:pt x="3598738" y="4188992"/>
                  <a:pt x="3598484" y="4189044"/>
                </a:cubicBezTo>
                <a:cubicBezTo>
                  <a:pt x="3596754" y="4190111"/>
                  <a:pt x="3595443" y="4192250"/>
                  <a:pt x="3594971" y="4196698"/>
                </a:cubicBezTo>
                <a:cubicBezTo>
                  <a:pt x="3584674" y="4185805"/>
                  <a:pt x="3590455" y="4197885"/>
                  <a:pt x="3589971" y="4211958"/>
                </a:cubicBezTo>
                <a:cubicBezTo>
                  <a:pt x="3573870" y="4198179"/>
                  <a:pt x="3579156" y="4240607"/>
                  <a:pt x="3569135" y="4243705"/>
                </a:cubicBezTo>
                <a:cubicBezTo>
                  <a:pt x="3569142" y="4254351"/>
                  <a:pt x="3568856" y="4265362"/>
                  <a:pt x="3568210" y="4276468"/>
                </a:cubicBezTo>
                <a:lnTo>
                  <a:pt x="3567613" y="4282925"/>
                </a:lnTo>
                <a:cubicBezTo>
                  <a:pt x="3567553" y="4282949"/>
                  <a:pt x="3567492" y="4282974"/>
                  <a:pt x="3567432" y="4282999"/>
                </a:cubicBezTo>
                <a:cubicBezTo>
                  <a:pt x="3566940" y="4284280"/>
                  <a:pt x="3566607" y="4286359"/>
                  <a:pt x="3566464" y="4289697"/>
                </a:cubicBezTo>
                <a:lnTo>
                  <a:pt x="3566526" y="4294698"/>
                </a:lnTo>
                <a:lnTo>
                  <a:pt x="3565367" y="4307225"/>
                </a:lnTo>
                <a:lnTo>
                  <a:pt x="3563841" y="4311164"/>
                </a:lnTo>
                <a:lnTo>
                  <a:pt x="3561610" y="4312189"/>
                </a:lnTo>
                <a:lnTo>
                  <a:pt x="3561734" y="4313408"/>
                </a:lnTo>
                <a:cubicBezTo>
                  <a:pt x="3564537" y="4323096"/>
                  <a:pt x="3569544" y="4327053"/>
                  <a:pt x="3553832" y="4334910"/>
                </a:cubicBezTo>
                <a:cubicBezTo>
                  <a:pt x="3557797" y="4356533"/>
                  <a:pt x="3548502" y="4358433"/>
                  <a:pt x="3542564" y="4385380"/>
                </a:cubicBezTo>
                <a:cubicBezTo>
                  <a:pt x="3547050" y="4398267"/>
                  <a:pt x="3544091" y="4407098"/>
                  <a:pt x="3538724" y="4415150"/>
                </a:cubicBezTo>
                <a:cubicBezTo>
                  <a:pt x="3538633" y="4442707"/>
                  <a:pt x="3529920" y="4465824"/>
                  <a:pt x="3525348" y="4495753"/>
                </a:cubicBezTo>
                <a:cubicBezTo>
                  <a:pt x="3529387" y="4530212"/>
                  <a:pt x="3514579" y="4543935"/>
                  <a:pt x="3509749" y="4575934"/>
                </a:cubicBezTo>
                <a:cubicBezTo>
                  <a:pt x="3519579" y="4606914"/>
                  <a:pt x="3496418" y="4596497"/>
                  <a:pt x="3489779" y="4611927"/>
                </a:cubicBezTo>
                <a:lnTo>
                  <a:pt x="3488856" y="4616508"/>
                </a:lnTo>
                <a:lnTo>
                  <a:pt x="3489486" y="4629163"/>
                </a:lnTo>
                <a:lnTo>
                  <a:pt x="3490242" y="4633947"/>
                </a:lnTo>
                <a:cubicBezTo>
                  <a:pt x="3490570" y="4637233"/>
                  <a:pt x="3490539" y="4639406"/>
                  <a:pt x="3490244" y="4640894"/>
                </a:cubicBezTo>
                <a:lnTo>
                  <a:pt x="3490078" y="4641059"/>
                </a:lnTo>
                <a:lnTo>
                  <a:pt x="3490403" y="4647582"/>
                </a:lnTo>
                <a:cubicBezTo>
                  <a:pt x="3491330" y="4658608"/>
                  <a:pt x="3492590" y="4669354"/>
                  <a:pt x="3494082" y="4679601"/>
                </a:cubicBezTo>
                <a:cubicBezTo>
                  <a:pt x="3484854" y="4687754"/>
                  <a:pt x="3495864" y="4725869"/>
                  <a:pt x="3478421" y="4720918"/>
                </a:cubicBezTo>
                <a:cubicBezTo>
                  <a:pt x="3479918" y="4734712"/>
                  <a:pt x="3487176" y="4743359"/>
                  <a:pt x="3475730" y="4738188"/>
                </a:cubicBezTo>
                <a:cubicBezTo>
                  <a:pt x="3475894" y="4742712"/>
                  <a:pt x="3474928" y="4745450"/>
                  <a:pt x="3473409" y="4747368"/>
                </a:cubicBezTo>
                <a:lnTo>
                  <a:pt x="3472696" y="4747913"/>
                </a:lnTo>
                <a:lnTo>
                  <a:pt x="3476304" y="4778609"/>
                </a:lnTo>
                <a:lnTo>
                  <a:pt x="3475454" y="4782623"/>
                </a:lnTo>
                <a:lnTo>
                  <a:pt x="3479507" y="4802712"/>
                </a:lnTo>
                <a:lnTo>
                  <a:pt x="3480695" y="4813049"/>
                </a:lnTo>
                <a:lnTo>
                  <a:pt x="3482902" y="4816057"/>
                </a:lnTo>
                <a:cubicBezTo>
                  <a:pt x="3484247" y="4819259"/>
                  <a:pt x="3484834" y="4823783"/>
                  <a:pt x="3483703" y="4831270"/>
                </a:cubicBezTo>
                <a:lnTo>
                  <a:pt x="3483090" y="4832984"/>
                </a:lnTo>
                <a:lnTo>
                  <a:pt x="3486378" y="4845654"/>
                </a:lnTo>
                <a:cubicBezTo>
                  <a:pt x="3487893" y="4849755"/>
                  <a:pt x="3489817" y="4853416"/>
                  <a:pt x="3492309" y="4856425"/>
                </a:cubicBezTo>
                <a:cubicBezTo>
                  <a:pt x="3479133" y="4898390"/>
                  <a:pt x="3491371" y="4939174"/>
                  <a:pt x="3489182" y="4985308"/>
                </a:cubicBezTo>
                <a:cubicBezTo>
                  <a:pt x="3492413" y="5037202"/>
                  <a:pt x="3496839" y="5073159"/>
                  <a:pt x="3498182" y="5107346"/>
                </a:cubicBezTo>
                <a:cubicBezTo>
                  <a:pt x="3500266" y="5123329"/>
                  <a:pt x="3506680" y="5240376"/>
                  <a:pt x="3499225" y="5231073"/>
                </a:cubicBezTo>
                <a:cubicBezTo>
                  <a:pt x="3515247" y="5280090"/>
                  <a:pt x="3497607" y="5309911"/>
                  <a:pt x="3504960" y="5364785"/>
                </a:cubicBezTo>
                <a:cubicBezTo>
                  <a:pt x="3487546" y="5393671"/>
                  <a:pt x="3503686" y="5378336"/>
                  <a:pt x="3500486" y="5409009"/>
                </a:cubicBezTo>
                <a:cubicBezTo>
                  <a:pt x="3516561" y="5401350"/>
                  <a:pt x="3491544" y="5446009"/>
                  <a:pt x="3509710" y="5448570"/>
                </a:cubicBezTo>
                <a:cubicBezTo>
                  <a:pt x="3508555" y="5454072"/>
                  <a:pt x="3506859" y="5459319"/>
                  <a:pt x="3505022" y="5464568"/>
                </a:cubicBezTo>
                <a:lnTo>
                  <a:pt x="3504070" y="5467320"/>
                </a:lnTo>
                <a:lnTo>
                  <a:pt x="3503399" y="5478483"/>
                </a:lnTo>
                <a:lnTo>
                  <a:pt x="3499281" y="5481443"/>
                </a:lnTo>
                <a:lnTo>
                  <a:pt x="3499047" y="5616712"/>
                </a:lnTo>
                <a:cubicBezTo>
                  <a:pt x="3502347" y="5628424"/>
                  <a:pt x="3503819" y="5666768"/>
                  <a:pt x="3498775" y="5675291"/>
                </a:cubicBezTo>
                <a:cubicBezTo>
                  <a:pt x="3497984" y="5683547"/>
                  <a:pt x="3500335" y="5692400"/>
                  <a:pt x="3494739" y="5697458"/>
                </a:cubicBezTo>
                <a:cubicBezTo>
                  <a:pt x="3492180" y="5715432"/>
                  <a:pt x="3486290" y="5756597"/>
                  <a:pt x="3483423" y="5783137"/>
                </a:cubicBezTo>
                <a:cubicBezTo>
                  <a:pt x="3491452" y="5796973"/>
                  <a:pt x="3477643" y="5819988"/>
                  <a:pt x="3477532" y="5856699"/>
                </a:cubicBezTo>
                <a:cubicBezTo>
                  <a:pt x="3486776" y="5871818"/>
                  <a:pt x="3477340" y="5881447"/>
                  <a:pt x="3490032" y="5910638"/>
                </a:cubicBezTo>
                <a:cubicBezTo>
                  <a:pt x="3488930" y="5911913"/>
                  <a:pt x="3487924" y="5913488"/>
                  <a:pt x="3487046" y="5915313"/>
                </a:cubicBezTo>
                <a:cubicBezTo>
                  <a:pt x="3481941" y="5925917"/>
                  <a:pt x="3482137" y="5942505"/>
                  <a:pt x="3487484" y="5952365"/>
                </a:cubicBezTo>
                <a:cubicBezTo>
                  <a:pt x="3504666" y="5999029"/>
                  <a:pt x="3505019" y="6042078"/>
                  <a:pt x="3509266" y="6082373"/>
                </a:cubicBezTo>
                <a:cubicBezTo>
                  <a:pt x="3512265" y="6128005"/>
                  <a:pt x="3492950" y="6098121"/>
                  <a:pt x="3509564" y="6154771"/>
                </a:cubicBezTo>
                <a:cubicBezTo>
                  <a:pt x="3503223" y="6161045"/>
                  <a:pt x="3503062" y="6168289"/>
                  <a:pt x="3506404" y="6180433"/>
                </a:cubicBezTo>
                <a:cubicBezTo>
                  <a:pt x="3507378" y="6202614"/>
                  <a:pt x="3491084" y="6201180"/>
                  <a:pt x="3501312" y="6223427"/>
                </a:cubicBezTo>
                <a:cubicBezTo>
                  <a:pt x="3492497" y="6219559"/>
                  <a:pt x="3498753" y="6265580"/>
                  <a:pt x="3489469" y="6255476"/>
                </a:cubicBezTo>
                <a:cubicBezTo>
                  <a:pt x="3481791" y="6270065"/>
                  <a:pt x="3495037" y="6276996"/>
                  <a:pt x="3488398" y="6291462"/>
                </a:cubicBezTo>
                <a:cubicBezTo>
                  <a:pt x="3487099" y="6307679"/>
                  <a:pt x="3497555" y="6282019"/>
                  <a:pt x="3498547" y="6299935"/>
                </a:cubicBezTo>
                <a:cubicBezTo>
                  <a:pt x="3498173" y="6321676"/>
                  <a:pt x="3514193" y="6321381"/>
                  <a:pt x="3494028" y="6338390"/>
                </a:cubicBezTo>
                <a:lnTo>
                  <a:pt x="3486030" y="6396716"/>
                </a:lnTo>
                <a:cubicBezTo>
                  <a:pt x="3491309" y="6409668"/>
                  <a:pt x="3488928" y="6420134"/>
                  <a:pt x="3484103" y="6430386"/>
                </a:cubicBezTo>
                <a:cubicBezTo>
                  <a:pt x="3485763" y="6460632"/>
                  <a:pt x="3478568" y="6488285"/>
                  <a:pt x="3475922" y="6522318"/>
                </a:cubicBezTo>
                <a:cubicBezTo>
                  <a:pt x="3482128" y="6559051"/>
                  <a:pt x="3468277" y="6578006"/>
                  <a:pt x="3465506" y="6614374"/>
                </a:cubicBezTo>
                <a:cubicBezTo>
                  <a:pt x="3478925" y="6650248"/>
                  <a:pt x="3446064" y="6638174"/>
                  <a:pt x="3446789" y="6668768"/>
                </a:cubicBezTo>
                <a:cubicBezTo>
                  <a:pt x="3458869" y="6718505"/>
                  <a:pt x="3435878" y="6667592"/>
                  <a:pt x="3439582" y="6744454"/>
                </a:cubicBezTo>
                <a:cubicBezTo>
                  <a:pt x="3441631" y="6748797"/>
                  <a:pt x="3439393" y="6758101"/>
                  <a:pt x="3436538" y="6757102"/>
                </a:cubicBezTo>
                <a:cubicBezTo>
                  <a:pt x="3437461" y="6773941"/>
                  <a:pt x="3420846" y="6822488"/>
                  <a:pt x="3424061" y="6846522"/>
                </a:cubicBezTo>
                <a:lnTo>
                  <a:pt x="3423032" y="6858000"/>
                </a:lnTo>
                <a:lnTo>
                  <a:pt x="0" y="6858000"/>
                </a:lnTo>
                <a:close/>
              </a:path>
            </a:pathLst>
          </a:custGeom>
          <a:noFill/>
          <a:ln>
            <a:noFill/>
          </a:ln>
        </p:spPr>
      </p:pic>
      <p:sp>
        <p:nvSpPr>
          <p:cNvPr id="187" name="Google Shape;187;p20"/>
          <p:cNvSpPr txBox="1"/>
          <p:nvPr>
            <p:ph idx="1" type="body"/>
          </p:nvPr>
        </p:nvSpPr>
        <p:spPr>
          <a:xfrm>
            <a:off x="4572001" y="2201958"/>
            <a:ext cx="6781800" cy="39007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Risk-free investments provide a foundation of financial stability for beginners.</a:t>
            </a:r>
            <a:b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They are perfect for people who want safety, steady income, and peace of mind, especially when starting their investment journey.</a:t>
            </a:r>
            <a:b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While they don’t offer high returns, they help you build discipline, protect your savings, and prepare for more advanced investing in the future.</a:t>
            </a:r>
            <a:b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For long-term growth, many investors later combine them with higher-risk assets like stocks or mutual funds — balancing safety and opportunity.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1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Learning Assessment Questions 1</a:t>
            </a:r>
            <a:endParaRPr/>
          </a:p>
        </p:txBody>
      </p:sp>
      <p:sp>
        <p:nvSpPr>
          <p:cNvPr id="193" name="Google Shape;193;p21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3500"/>
              <a:t>What makes an investment “risk-free”?</a:t>
            </a:r>
            <a:endParaRPr b="1" sz="35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500">
                <a:highlight>
                  <a:srgbClr val="FFFF00"/>
                </a:highlight>
              </a:rPr>
              <a:t>a) It guarantees no loss of the original amount</a:t>
            </a:r>
            <a:endParaRPr sz="3500">
              <a:highlight>
                <a:srgbClr val="FFFF00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500"/>
              <a:t>b) It provides very high profits</a:t>
            </a:r>
            <a:endParaRPr sz="35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500"/>
              <a:t>c) It depends on market prices</a:t>
            </a:r>
            <a:endParaRPr sz="35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500"/>
              <a:t>d) It is only available to companies</a:t>
            </a:r>
            <a:endParaRPr sz="35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52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2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Question 2</a:t>
            </a:r>
            <a:endParaRPr/>
          </a:p>
        </p:txBody>
      </p:sp>
      <p:sp>
        <p:nvSpPr>
          <p:cNvPr id="199" name="Google Shape;199;p22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3000"/>
              <a:t>Which of the following is considered a risk-free investment?</a:t>
            </a:r>
            <a:endParaRPr b="1" sz="30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000"/>
              <a:t>a) Cryptocurrency</a:t>
            </a:r>
            <a:endParaRPr sz="30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000">
                <a:highlight>
                  <a:srgbClr val="FFFF00"/>
                </a:highlight>
              </a:rPr>
              <a:t>b) Treasury Bills</a:t>
            </a:r>
            <a:endParaRPr sz="3000">
              <a:highlight>
                <a:srgbClr val="FFFF00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000"/>
              <a:t>c) Company Stocks</a:t>
            </a:r>
            <a:endParaRPr sz="30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000"/>
              <a:t>d) Real Estate</a:t>
            </a:r>
            <a:endParaRPr sz="3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47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3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Question 3</a:t>
            </a:r>
            <a:endParaRPr/>
          </a:p>
        </p:txBody>
      </p:sp>
      <p:sp>
        <p:nvSpPr>
          <p:cNvPr id="205" name="Google Shape;205;p23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3000"/>
              <a:t>Why do people choose risk-free investments?</a:t>
            </a:r>
            <a:endParaRPr b="1" sz="30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000"/>
              <a:t>a) To earn quick profits</a:t>
            </a:r>
            <a:endParaRPr sz="30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000">
                <a:highlight>
                  <a:srgbClr val="FFFF00"/>
                </a:highlight>
              </a:rPr>
              <a:t>b) To protect their money from loss</a:t>
            </a:r>
            <a:endParaRPr sz="3000">
              <a:highlight>
                <a:srgbClr val="FFFF00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000"/>
              <a:t>c) To gamble with market trends</a:t>
            </a:r>
            <a:endParaRPr sz="30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000"/>
              <a:t>d) To avoid paying taxes</a:t>
            </a:r>
            <a:endParaRPr sz="3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4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Question 4</a:t>
            </a:r>
            <a:endParaRPr/>
          </a:p>
        </p:txBody>
      </p:sp>
      <p:sp>
        <p:nvSpPr>
          <p:cNvPr id="211" name="Google Shape;211;p24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3100"/>
              <a:t>What is a Certificate of Deposit (CD)?</a:t>
            </a:r>
            <a:endParaRPr b="1" sz="31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100"/>
              <a:t>a) A short-term loan to a company</a:t>
            </a:r>
            <a:endParaRPr sz="31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100">
                <a:highlight>
                  <a:srgbClr val="FFFF00"/>
                </a:highlight>
              </a:rPr>
              <a:t>b) A fixed deposit at a bank with guaranteed interest</a:t>
            </a:r>
            <a:endParaRPr sz="3100">
              <a:highlight>
                <a:srgbClr val="FFFF00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00"/>
              <a:t>c) A risky investment in foreign currency</a:t>
            </a:r>
            <a:endParaRPr sz="31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00"/>
              <a:t>d) A government grant</a:t>
            </a:r>
            <a:endParaRPr sz="48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5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Question 5</a:t>
            </a:r>
            <a:endParaRPr/>
          </a:p>
        </p:txBody>
      </p:sp>
      <p:sp>
        <p:nvSpPr>
          <p:cNvPr id="217" name="Google Shape;217;p25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600"/>
              <a:t>Which is a drawback of risk-free investments?</a:t>
            </a:r>
            <a:endParaRPr b="1" sz="26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600"/>
              <a:t>a) High volatility</a:t>
            </a:r>
            <a:endParaRPr sz="26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600">
                <a:highlight>
                  <a:srgbClr val="FFFF00"/>
                </a:highlight>
              </a:rPr>
              <a:t>b) Low returns compared to riskier assets</a:t>
            </a:r>
            <a:endParaRPr sz="2600">
              <a:highlight>
                <a:srgbClr val="FFFF00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/>
              <a:t>c) Difficult to understand</a:t>
            </a:r>
            <a:endParaRPr sz="26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/>
              <a:t>d) No legal protection</a:t>
            </a:r>
            <a:endParaRPr sz="43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