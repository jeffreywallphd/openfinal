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5F5F5"/>
            </a:gs>
            <a:gs pos="100000">
              <a:srgbClr val="D0CFCF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1089462" y="722176"/>
            <a:ext cx="3132288" cy="178562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b="1" lang="en-US" sz="3100"/>
              <a:t>Advanced Blockchain</a:t>
            </a:r>
            <a:endParaRPr sz="3100"/>
          </a:p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1089462" y="2648403"/>
            <a:ext cx="3128610" cy="120798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</p:txBody>
      </p:sp>
      <p:pic>
        <p:nvPicPr>
          <p:cNvPr descr="Unlock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88" y="604187"/>
            <a:ext cx="3495571" cy="349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628650" y="273843"/>
            <a:ext cx="4168866" cy="994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Conceptual Foundation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7656521" y="0"/>
            <a:ext cx="851299" cy="35849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628650" y="1369218"/>
            <a:ext cx="4168866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600"/>
              <a:t>At its core, blockchain is a Byzantine fault-tolerant distributed system designed to achieve trustless consensus across untrusted nodes.</a:t>
            </a:r>
            <a:br>
              <a:rPr lang="en-US" sz="1600"/>
            </a:br>
            <a:r>
              <a:rPr lang="en-US" sz="1600"/>
              <a:t>It combines principles from cryptography, distributed databases, game theory, and networking to create a verifiable, append-only ledger.</a:t>
            </a:r>
            <a:br>
              <a:rPr lang="en-US" sz="1600"/>
            </a:br>
            <a:r>
              <a:rPr lang="en-US" sz="1600"/>
              <a:t>Every node maintains a synchronized copy of the ledger, and updates occur only when the network achieves consensus—preventing double-spending and unauthorized modification.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99" name="Google Shape;99;p15"/>
          <p:cNvSpPr/>
          <p:nvPr/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 rot="-5400000">
            <a:off x="6684313" y="913898"/>
            <a:ext cx="1790700" cy="1790700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5115982" y="0"/>
            <a:ext cx="1736438" cy="1163244"/>
          </a:xfrm>
          <a:custGeom>
            <a:rect b="b" l="l" r="r" t="t"/>
            <a:pathLst>
              <a:path extrusionOk="0" h="1550992" w="2315251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5"/>
          <p:cNvCxnSpPr/>
          <p:nvPr/>
        </p:nvCxnSpPr>
        <p:spPr>
          <a:xfrm>
            <a:off x="8793478" y="998679"/>
            <a:ext cx="0" cy="1198281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5"/>
          <p:cNvSpPr/>
          <p:nvPr/>
        </p:nvSpPr>
        <p:spPr>
          <a:xfrm>
            <a:off x="8254162" y="3084060"/>
            <a:ext cx="889838" cy="1328738"/>
          </a:xfrm>
          <a:custGeom>
            <a:rect b="b" l="l" r="r" t="t"/>
            <a:pathLst>
              <a:path extrusionOk="0" h="1771650" w="1186451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 rot="-607105">
            <a:off x="4565205" y="3108841"/>
            <a:ext cx="3062574" cy="3062575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115982" y="3722002"/>
            <a:ext cx="1982514" cy="1421498"/>
          </a:xfrm>
          <a:custGeom>
            <a:rect b="b" l="l" r="r" t="t"/>
            <a:pathLst>
              <a:path extrusionOk="0" h="1895331" w="2643352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>
            <p:ph type="title"/>
          </p:nvPr>
        </p:nvSpPr>
        <p:spPr>
          <a:xfrm>
            <a:off x="630936" y="192024"/>
            <a:ext cx="7879842" cy="7612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Cryptographic Underpinnings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649464" y="1225876"/>
            <a:ext cx="7838694" cy="1371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 flipH="1" rot="10800000">
            <a:off x="630936" y="1153632"/>
            <a:ext cx="1405092" cy="82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16"/>
          <p:cNvGrpSpPr/>
          <p:nvPr/>
        </p:nvGrpSpPr>
        <p:grpSpPr>
          <a:xfrm>
            <a:off x="628650" y="1447649"/>
            <a:ext cx="7886700" cy="3262241"/>
            <a:chOff x="0" y="2950"/>
            <a:chExt cx="7886700" cy="3262241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2950"/>
              <a:ext cx="7886700" cy="627920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189945" y="144232"/>
              <a:ext cx="345693" cy="34535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725585" y="2950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725585" y="2950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Hash Functions: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Cryptographic hashes (e.g., SHA-256, Keccak-256) provide one-way functions ensuring data immutability and block linkage.</a:t>
              </a:r>
              <a:b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Any change in input alters the hash, invalidating subsequent blocks.</a:t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0" y="861435"/>
              <a:ext cx="7886700" cy="62792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189945" y="1002717"/>
              <a:ext cx="345693" cy="34535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725585" y="861435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725585" y="861435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Digital Signatures &amp; Public-Key Cryptography: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Blockchain transactions use asymmetric cryptography (ECDSA, EdDSA) to verify ownership and authenticity.</a:t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0" y="1719919"/>
              <a:ext cx="7886700" cy="627920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189945" y="1861201"/>
              <a:ext cx="345693" cy="34535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725585" y="1719919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725585" y="1719919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Merkle Trees: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Efficiently verify large data structures by storing hashes of transactions, allowing light clients to validate inclusion proofs without full data.</a:t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0" y="2578404"/>
              <a:ext cx="7886700" cy="62792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189945" y="2719686"/>
              <a:ext cx="345693" cy="34535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725585" y="2578404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725585" y="2578404"/>
              <a:ext cx="7128334" cy="686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675" lIns="72675" spcFirstLastPara="1" rIns="72675" wrap="square" tIns="72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Zero-Knowledge Proofs (ZKPs):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Enable verification of data without revealing the data itself — crucial for privacy-preserving blockchains (e.g., zk-SNARKs, zk-STARKs).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 flipH="1">
            <a:off x="6432540" y="2501900"/>
            <a:ext cx="2468880" cy="2400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481330" y="467456"/>
            <a:ext cx="8178790" cy="4205911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>
            <p:ph type="title"/>
          </p:nvPr>
        </p:nvSpPr>
        <p:spPr>
          <a:xfrm>
            <a:off x="963930" y="787946"/>
            <a:ext cx="6056111" cy="121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Consensus Mechanisms — Beyond PoW and PoS</a:t>
            </a:r>
            <a:endParaRPr/>
          </a:p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>
            <a:off x="963930" y="2227101"/>
            <a:ext cx="6056111" cy="2100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Advanced consensus designs aim to optimize </a:t>
            </a:r>
            <a:r>
              <a:rPr b="1" lang="en-US" sz="1100"/>
              <a:t>security, scalability, and energy efficiency</a:t>
            </a:r>
            <a:r>
              <a:rPr lang="en-US" sz="1100"/>
              <a:t>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100"/>
              <a:t>Proof of Authority (PoA):</a:t>
            </a:r>
            <a:r>
              <a:rPr lang="en-US" sz="1100"/>
              <a:t> Relies on vetted validators for high-throughput private networks.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100"/>
              <a:t>Proof of History (PoH):</a:t>
            </a:r>
            <a:r>
              <a:rPr lang="en-US" sz="1100"/>
              <a:t> Used by Solana; timestamps events cryptographically for faster ordering.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100"/>
              <a:t>Proof of Space and Time:</a:t>
            </a:r>
            <a:r>
              <a:rPr lang="en-US" sz="1100"/>
              <a:t> Used by Chia, leveraging disk storage rather than computation.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100"/>
              <a:t>Hybrid Models:</a:t>
            </a:r>
            <a:r>
              <a:rPr lang="en-US" sz="1100"/>
              <a:t> Combining PoW and PoS for balance (e.g., Decred).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n-US" sz="1100"/>
              <a:t>Sharded Consensus:</a:t>
            </a:r>
            <a:r>
              <a:rPr lang="en-US" sz="1100"/>
              <a:t> Parallel transaction processing across network partitions (e.g., Ethereum 2.0 sharding).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755175" y="891475"/>
            <a:ext cx="2469000" cy="3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Architectures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488437" y="242639"/>
            <a:ext cx="5412983" cy="4659561"/>
          </a:xfrm>
          <a:custGeom>
            <a:rect b="b" l="l" r="r" t="t"/>
            <a:pathLst>
              <a:path extrusionOk="0" h="6212748" w="7217311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rgbClr val="7F7F7F">
              <a:alpha val="2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 flipH="1">
            <a:off x="6432540" y="2501900"/>
            <a:ext cx="2468880" cy="2400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25100" y="576750"/>
            <a:ext cx="8293800" cy="4206000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8"/>
          <p:cNvGrpSpPr/>
          <p:nvPr/>
        </p:nvGrpSpPr>
        <p:grpSpPr>
          <a:xfrm>
            <a:off x="3825857" y="799052"/>
            <a:ext cx="3807803" cy="3486037"/>
            <a:chOff x="0" y="42308"/>
            <a:chExt cx="3807803" cy="3486037"/>
          </a:xfrm>
        </p:grpSpPr>
        <p:sp>
          <p:nvSpPr>
            <p:cNvPr id="150" name="Google Shape;150;p18"/>
            <p:cNvSpPr/>
            <p:nvPr/>
          </p:nvSpPr>
          <p:spPr>
            <a:xfrm>
              <a:off x="0" y="42308"/>
              <a:ext cx="3807803" cy="839109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40962" y="83270"/>
              <a:ext cx="3725879" cy="757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Layer 1 (Base Chain):</a:t>
              </a:r>
              <a:r>
                <a:rPr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Core protocol (e.g., Bitcoin, Ethereum).</a:t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0" y="924617"/>
              <a:ext cx="3807803" cy="839109"/>
            </a:xfrm>
            <a:prstGeom prst="roundRect">
              <a:avLst>
                <a:gd fmla="val 16667" name="adj"/>
              </a:avLst>
            </a:prstGeom>
            <a:solidFill>
              <a:srgbClr val="D07A5B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40962" y="965579"/>
              <a:ext cx="3725879" cy="757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Layer 2 (Scaling Solutions):</a:t>
              </a:r>
              <a:r>
                <a:rPr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Off-chain systems improving speed and cost — e.g., Lightning Network, Optimistic Rollups, zk-Rollups.</a:t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0" y="1806927"/>
              <a:ext cx="3807803" cy="839109"/>
            </a:xfrm>
            <a:prstGeom prst="roundRect">
              <a:avLst>
                <a:gd fmla="val 16667" name="adj"/>
              </a:avLst>
            </a:prstGeom>
            <a:solidFill>
              <a:srgbClr val="B8888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40962" y="1847889"/>
              <a:ext cx="3725879" cy="757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Sidechains &amp; Parachains:</a:t>
              </a:r>
              <a:r>
                <a:rPr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Independent blockchains interoperable with main chains (e.g., Polygon, Polkadot).</a:t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0" y="2689236"/>
              <a:ext cx="3807803" cy="839109"/>
            </a:xfrm>
            <a:prstGeom prst="roundRect">
              <a:avLst>
                <a:gd fmla="val 16667" name="adj"/>
              </a:avLst>
            </a:prstGeom>
            <a:solidFill>
              <a:srgbClr val="A4A4A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 txBox="1"/>
            <p:nvPr/>
          </p:nvSpPr>
          <p:spPr>
            <a:xfrm>
              <a:off x="40962" y="2730198"/>
              <a:ext cx="3725879" cy="7571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Cross-Chain Interoperability:</a:t>
              </a:r>
              <a:r>
                <a:rPr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Protocols like Cosmos’ IBC and Chainlink CCIP allow communication across multiple blockchains.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 flipH="1" rot="10800000">
            <a:off x="6096642" y="0"/>
            <a:ext cx="3047358" cy="1182309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>
            <p:ph type="title"/>
          </p:nvPr>
        </p:nvSpPr>
        <p:spPr>
          <a:xfrm>
            <a:off x="1028697" y="261648"/>
            <a:ext cx="7533018" cy="658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Contracts &amp; Virtual Machines</a:t>
            </a:r>
            <a:endParaRPr/>
          </a:p>
        </p:txBody>
      </p:sp>
      <p:grpSp>
        <p:nvGrpSpPr>
          <p:cNvPr id="167" name="Google Shape;167;p19"/>
          <p:cNvGrpSpPr/>
          <p:nvPr/>
        </p:nvGrpSpPr>
        <p:grpSpPr>
          <a:xfrm>
            <a:off x="508477" y="2256677"/>
            <a:ext cx="8145000" cy="1800117"/>
            <a:chOff x="25435" y="672243"/>
            <a:chExt cx="8145000" cy="1800117"/>
          </a:xfrm>
        </p:grpSpPr>
        <p:sp>
          <p:nvSpPr>
            <p:cNvPr id="168" name="Google Shape;168;p19"/>
            <p:cNvSpPr/>
            <p:nvPr/>
          </p:nvSpPr>
          <p:spPr>
            <a:xfrm>
              <a:off x="520435" y="672243"/>
              <a:ext cx="810000" cy="81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25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25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EVM (Ethereum Virtual Machine):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Executes bytecode deterministically on all nodes.</a:t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2635435" y="672243"/>
              <a:ext cx="810000" cy="81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2140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2140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WASM (WebAssembly):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Offers higher efficiency and multi-language support (used by Polkadot, NEAR).</a:t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4750435" y="672243"/>
              <a:ext cx="810000" cy="81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4255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4255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Formal Verification: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Mathematical validation of smart contract correctness to prevent exploits.</a:t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6865435" y="672243"/>
              <a:ext cx="810000" cy="81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6370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6370435" y="1752360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Oracles: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Connect blockchain to real-world data (e.g., Chainlink, Band Protocol).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>
            <a:off x="0" y="1"/>
            <a:ext cx="9144000" cy="51434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>
            <p:ph type="title"/>
          </p:nvPr>
        </p:nvSpPr>
        <p:spPr>
          <a:xfrm>
            <a:off x="6482394" y="367130"/>
            <a:ext cx="2318706" cy="12416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Privacy Enhancements</a:t>
            </a:r>
            <a:endParaRPr/>
          </a:p>
        </p:txBody>
      </p:sp>
      <p:pic>
        <p:nvPicPr>
          <p:cNvPr descr="Illuminated server room panel" id="186" name="Google Shape;186;p20"/>
          <p:cNvPicPr preferRelativeResize="0"/>
          <p:nvPr/>
        </p:nvPicPr>
        <p:blipFill rotWithShape="1">
          <a:blip r:embed="rId3">
            <a:alphaModFix/>
          </a:blip>
          <a:srcRect b="1" l="4369" r="11102" t="0"/>
          <a:stretch/>
        </p:blipFill>
        <p:spPr>
          <a:xfrm>
            <a:off x="20" y="323"/>
            <a:ext cx="6086455" cy="480623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6482394" y="1813806"/>
            <a:ext cx="2207110" cy="2655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900"/>
              <a:t>Advanced cryptography enables </a:t>
            </a:r>
            <a:r>
              <a:rPr b="1" lang="en-US" sz="900"/>
              <a:t>confidential transactions</a:t>
            </a:r>
            <a:r>
              <a:rPr lang="en-US" sz="900"/>
              <a:t> and selective transparency: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lang="en-US" sz="900"/>
              <a:t>ZKPs:</a:t>
            </a:r>
            <a:r>
              <a:rPr lang="en-US" sz="900"/>
              <a:t> For private computation on public chains.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lang="en-US" sz="900"/>
              <a:t>Ring Signatures &amp; Stealth Addresses:</a:t>
            </a:r>
            <a:r>
              <a:rPr lang="en-US" sz="900"/>
              <a:t> Used in Monero for untraceable payments.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lang="en-US" sz="900"/>
              <a:t>Homomorphic Encryption:</a:t>
            </a:r>
            <a:r>
              <a:rPr lang="en-US" sz="900"/>
              <a:t> Allows computation on encrypted data.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b="1" lang="en-US" sz="900"/>
              <a:t>Mixers &amp; Tumblers:</a:t>
            </a:r>
            <a:r>
              <a:rPr lang="en-US" sz="900"/>
              <a:t> Obfuscate transaction trails (though increasingly regulated).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900"/>
          </a:p>
        </p:txBody>
      </p:sp>
      <p:sp>
        <p:nvSpPr>
          <p:cNvPr id="188" name="Google Shape;188;p20"/>
          <p:cNvSpPr/>
          <p:nvPr/>
        </p:nvSpPr>
        <p:spPr>
          <a:xfrm flipH="1">
            <a:off x="0" y="4806555"/>
            <a:ext cx="9143997" cy="342902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34000">
                <a:srgbClr val="000000">
                  <a:alpha val="95686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 flipH="1">
            <a:off x="-3" y="4806556"/>
            <a:ext cx="6086475" cy="336944"/>
          </a:xfrm>
          <a:prstGeom prst="rect">
            <a:avLst/>
          </a:prstGeom>
          <a:gradFill>
            <a:gsLst>
              <a:gs pos="0">
                <a:srgbClr val="2F5496">
                  <a:alpha val="58823"/>
                </a:srgbClr>
              </a:gs>
              <a:gs pos="28000">
                <a:srgbClr val="2F5496">
                  <a:alpha val="58823"/>
                </a:srgbClr>
              </a:gs>
              <a:gs pos="100000">
                <a:srgbClr val="000000">
                  <a:alpha val="69803"/>
                </a:srgbClr>
              </a:gs>
            </a:gsLst>
            <a:lin ang="11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>
            <p:ph type="title"/>
          </p:nvPr>
        </p:nvSpPr>
        <p:spPr>
          <a:xfrm>
            <a:off x="571350" y="571500"/>
            <a:ext cx="4000647" cy="1281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3000"/>
              <a:t>Scalability and Performance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571350" y="1852683"/>
            <a:ext cx="4000647" cy="282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400"/>
              <a:t>       Scalability is tackled through multi-layer design: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400"/>
              <a:t>On-chain Scaling:</a:t>
            </a:r>
            <a:r>
              <a:rPr lang="en-US" sz="1400"/>
              <a:t> Larger block sizes, sharding, improved consensus.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400"/>
              <a:t>Off-chain Scaling:</a:t>
            </a:r>
            <a:r>
              <a:rPr lang="en-US" sz="1400"/>
              <a:t> Channels and rollups reducing main-chain load.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400"/>
              <a:t>Throughput Goals:</a:t>
            </a:r>
            <a:r>
              <a:rPr lang="en-US" sz="1400"/>
              <a:t> Modern L2 solutions achieve &gt;10,000 TPS compared to Bitcoin’s ~7 TPS.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400"/>
              <a:t>Trade-offs:</a:t>
            </a:r>
            <a:r>
              <a:rPr lang="en-US" sz="1400"/>
              <a:t> According to the </a:t>
            </a:r>
            <a:r>
              <a:rPr b="1" lang="en-US" sz="1400"/>
              <a:t>Blockchain Trilemma</a:t>
            </a:r>
            <a:r>
              <a:rPr lang="en-US" sz="1400"/>
              <a:t>, achieving all three — decentralization, scalability, and security — remains difficult.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400"/>
          </a:p>
        </p:txBody>
      </p:sp>
      <p:pic>
        <p:nvPicPr>
          <p:cNvPr descr="Top view of cubes connected with black lines" id="197" name="Google Shape;197;p21"/>
          <p:cNvPicPr preferRelativeResize="0"/>
          <p:nvPr/>
        </p:nvPicPr>
        <p:blipFill rotWithShape="1">
          <a:blip r:embed="rId3">
            <a:alphaModFix/>
          </a:blip>
          <a:srcRect b="-1" l="25840" r="15915" t="0"/>
          <a:stretch/>
        </p:blipFill>
        <p:spPr>
          <a:xfrm>
            <a:off x="5143347" y="-8164"/>
            <a:ext cx="4000653" cy="5151664"/>
          </a:xfrm>
          <a:prstGeom prst="rect">
            <a:avLst/>
          </a:prstGeom>
          <a:noFill/>
          <a:ln>
            <a:noFill/>
          </a:ln>
          <a:effectLst>
            <a:outerShdw blurRad="127000" sx="99000" rotWithShape="0" algn="r" dir="10800000" dist="50800" sy="99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se up of a molecular model" id="203" name="Google Shape;203;p22"/>
          <p:cNvPicPr preferRelativeResize="0"/>
          <p:nvPr/>
        </p:nvPicPr>
        <p:blipFill rotWithShape="1">
          <a:blip r:embed="rId3">
            <a:alphaModFix/>
          </a:blip>
          <a:srcRect b="8784" l="13818" r="-2" t="305"/>
          <a:stretch/>
        </p:blipFill>
        <p:spPr>
          <a:xfrm>
            <a:off x="2642616" y="10"/>
            <a:ext cx="6501384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/>
          <p:nvPr/>
        </p:nvSpPr>
        <p:spPr>
          <a:xfrm>
            <a:off x="1" y="0"/>
            <a:ext cx="7317451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7647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>
            <p:ph type="title"/>
          </p:nvPr>
        </p:nvSpPr>
        <p:spPr>
          <a:xfrm>
            <a:off x="278320" y="870966"/>
            <a:ext cx="2578608" cy="843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100"/>
              <a:t>Governance and Tokenomics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 rot="5400000">
            <a:off x="496919" y="454343"/>
            <a:ext cx="54864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321183" y="1832610"/>
            <a:ext cx="2475738" cy="6858"/>
          </a:xfrm>
          <a:prstGeom prst="rect">
            <a:avLst/>
          </a:prstGeom>
          <a:solidFill>
            <a:srgbClr val="D5D5D5"/>
          </a:solidFill>
          <a:ln cap="flat" cmpd="sng" w="9525">
            <a:solidFill>
              <a:srgbClr val="D5D5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278320" y="2038540"/>
            <a:ext cx="2579180" cy="240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1000"/>
              <a:t> Advanced blockchains use on-chain governance   and tokenomics to maintain sustainability: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000"/>
              <a:t>Governance Models</a:t>
            </a:r>
            <a:r>
              <a:rPr lang="en-US" sz="1000"/>
              <a:t>: On-chain voting (Tezos, Polkadot) vs. off-chain coordination (Bitcoin).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000"/>
              <a:t>Incentive Structures:</a:t>
            </a:r>
            <a:r>
              <a:rPr lang="en-US" sz="1000"/>
              <a:t> Token rewards, staking, slashing mechanisms for validator honesty.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n-US" sz="1000"/>
              <a:t>Decentralized Autonomous Organizations (DAOs):</a:t>
            </a:r>
            <a:r>
              <a:rPr lang="en-US" sz="1000"/>
              <a:t> Smart contract–driven entities that manage protocols democratically.</a:t>
            </a:r>
            <a:endParaRPr/>
          </a:p>
          <a:p>
            <a:pPr indent="11430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0" y="0"/>
            <a:ext cx="9141711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0" y="0"/>
            <a:ext cx="9141711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23"/>
          <p:cNvGrpSpPr/>
          <p:nvPr/>
        </p:nvGrpSpPr>
        <p:grpSpPr>
          <a:xfrm>
            <a:off x="0" y="0"/>
            <a:ext cx="3530289" cy="5143500"/>
            <a:chOff x="651279" y="598259"/>
            <a:chExt cx="10889442" cy="5680742"/>
          </a:xfrm>
        </p:grpSpPr>
        <p:sp>
          <p:nvSpPr>
            <p:cNvPr id="216" name="Google Shape;216;p2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3"/>
          <p:cNvGrpSpPr/>
          <p:nvPr/>
        </p:nvGrpSpPr>
        <p:grpSpPr>
          <a:xfrm>
            <a:off x="1143" y="0"/>
            <a:ext cx="9141717" cy="5143498"/>
            <a:chOff x="0" y="0"/>
            <a:chExt cx="12188952" cy="6858000"/>
          </a:xfrm>
        </p:grpSpPr>
        <p:sp>
          <p:nvSpPr>
            <p:cNvPr id="219" name="Google Shape;219;p23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3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23"/>
          <p:cNvSpPr txBox="1"/>
          <p:nvPr>
            <p:ph type="title"/>
          </p:nvPr>
        </p:nvSpPr>
        <p:spPr>
          <a:xfrm>
            <a:off x="589788" y="630936"/>
            <a:ext cx="2636433" cy="400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Integration with Emerging Technologies</a:t>
            </a:r>
            <a:endParaRPr/>
          </a:p>
        </p:txBody>
      </p:sp>
      <p:grpSp>
        <p:nvGrpSpPr>
          <p:cNvPr id="227" name="Google Shape;227;p23"/>
          <p:cNvGrpSpPr/>
          <p:nvPr/>
        </p:nvGrpSpPr>
        <p:grpSpPr>
          <a:xfrm>
            <a:off x="4169881" y="190359"/>
            <a:ext cx="3915000" cy="4770000"/>
            <a:chOff x="430467" y="17105"/>
            <a:chExt cx="3915000" cy="4770000"/>
          </a:xfrm>
        </p:grpSpPr>
        <p:sp>
          <p:nvSpPr>
            <p:cNvPr id="228" name="Google Shape;228;p23"/>
            <p:cNvSpPr/>
            <p:nvPr/>
          </p:nvSpPr>
          <p:spPr>
            <a:xfrm>
              <a:off x="781467" y="17105"/>
              <a:ext cx="1098000" cy="109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3"/>
            <p:cNvSpPr/>
            <p:nvPr/>
          </p:nvSpPr>
          <p:spPr>
            <a:xfrm>
              <a:off x="1015467" y="251105"/>
              <a:ext cx="630000" cy="63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430467" y="145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3"/>
            <p:cNvSpPr txBox="1"/>
            <p:nvPr/>
          </p:nvSpPr>
          <p:spPr>
            <a:xfrm>
              <a:off x="430467" y="145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BLOCKCHAIN + AI:</a:t>
              </a:r>
              <a:r>
                <a:rPr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SECURE MODEL PROVENANCE AND DECENTRALIZED FEDERATED LEARNING.</a:t>
              </a:r>
              <a:endParaRPr/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2896467" y="17105"/>
              <a:ext cx="1098000" cy="109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3130467" y="251105"/>
              <a:ext cx="630000" cy="63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2545467" y="145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3"/>
            <p:cNvSpPr txBox="1"/>
            <p:nvPr/>
          </p:nvSpPr>
          <p:spPr>
            <a:xfrm>
              <a:off x="2545467" y="145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BLOCKCHAIN + IOT:</a:t>
              </a:r>
              <a:r>
                <a:rPr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ENSURES DEVICE DATA AUTHENTICITY AND SECURE M2M COMMUNICATION.</a:t>
              </a: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781467" y="2627105"/>
              <a:ext cx="1098000" cy="1098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1015467" y="2861105"/>
              <a:ext cx="630000" cy="63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430467" y="406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430467" y="406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BLOCKCHAIN + CLOUD/EDGE COMPUTING:</a:t>
              </a:r>
              <a:r>
                <a:rPr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ENABLES DISTRIBUTED DATA STORAGE WITH VERIFIABLE INTEGRITY.</a:t>
              </a: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2896467" y="2627105"/>
              <a:ext cx="1098000" cy="1098000"/>
            </a:xfrm>
            <a:prstGeom prst="ellipse">
              <a:avLst/>
            </a:pr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3130467" y="2861105"/>
              <a:ext cx="630000" cy="63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2545467" y="406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3"/>
            <p:cNvSpPr txBox="1"/>
            <p:nvPr/>
          </p:nvSpPr>
          <p:spPr>
            <a:xfrm>
              <a:off x="2545467" y="4067105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QUANTUM RESISTANCE:</a:t>
              </a:r>
              <a:r>
                <a:rPr lang="en-US" sz="11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RESEARCH INTO POST-QUANTUM CRYPTOGRAPHY TO MITIGATE FUTURE RISKS.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0" y="0"/>
            <a:ext cx="9141711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0" y="0"/>
            <a:ext cx="9141711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24"/>
          <p:cNvGrpSpPr/>
          <p:nvPr/>
        </p:nvGrpSpPr>
        <p:grpSpPr>
          <a:xfrm>
            <a:off x="0" y="0"/>
            <a:ext cx="3530289" cy="5143500"/>
            <a:chOff x="651279" y="598259"/>
            <a:chExt cx="10889442" cy="5680742"/>
          </a:xfrm>
        </p:grpSpPr>
        <p:sp>
          <p:nvSpPr>
            <p:cNvPr id="251" name="Google Shape;251;p2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24"/>
          <p:cNvGrpSpPr/>
          <p:nvPr/>
        </p:nvGrpSpPr>
        <p:grpSpPr>
          <a:xfrm>
            <a:off x="1143" y="0"/>
            <a:ext cx="9141717" cy="5143498"/>
            <a:chOff x="0" y="0"/>
            <a:chExt cx="12188952" cy="6858000"/>
          </a:xfrm>
        </p:grpSpPr>
        <p:sp>
          <p:nvSpPr>
            <p:cNvPr id="254" name="Google Shape;254;p24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24"/>
          <p:cNvSpPr txBox="1"/>
          <p:nvPr>
            <p:ph type="title"/>
          </p:nvPr>
        </p:nvSpPr>
        <p:spPr>
          <a:xfrm>
            <a:off x="589788" y="630936"/>
            <a:ext cx="2636433" cy="400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Future Trends</a:t>
            </a:r>
            <a:endParaRPr/>
          </a:p>
        </p:txBody>
      </p:sp>
      <p:grpSp>
        <p:nvGrpSpPr>
          <p:cNvPr id="262" name="Google Shape;262;p24"/>
          <p:cNvGrpSpPr/>
          <p:nvPr/>
        </p:nvGrpSpPr>
        <p:grpSpPr>
          <a:xfrm>
            <a:off x="3739414" y="891998"/>
            <a:ext cx="4775935" cy="3366721"/>
            <a:chOff x="0" y="718744"/>
            <a:chExt cx="4775935" cy="3366721"/>
          </a:xfrm>
        </p:grpSpPr>
        <p:sp>
          <p:nvSpPr>
            <p:cNvPr id="263" name="Google Shape;263;p24"/>
            <p:cNvSpPr/>
            <p:nvPr/>
          </p:nvSpPr>
          <p:spPr>
            <a:xfrm>
              <a:off x="0" y="718744"/>
              <a:ext cx="4775935" cy="63648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31070" y="749814"/>
              <a:ext cx="4713795" cy="5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Modular Blockchains:</a:t>
              </a: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Splitting consensus, execution, and data availability layers for flexibility (e.g., Celestia).</a:t>
              </a: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0" y="1401305"/>
              <a:ext cx="4775935" cy="636480"/>
            </a:xfrm>
            <a:prstGeom prst="roundRect">
              <a:avLst>
                <a:gd fmla="val 16667" name="adj"/>
              </a:avLst>
            </a:prstGeom>
            <a:solidFill>
              <a:srgbClr val="D7785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31070" y="1432375"/>
              <a:ext cx="4713795" cy="5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ZK-Rollup Adoption:</a:t>
              </a: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Faster, private, and scalable computation.</a:t>
              </a: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0" y="2083865"/>
              <a:ext cx="4775935" cy="636480"/>
            </a:xfrm>
            <a:prstGeom prst="roundRect">
              <a:avLst>
                <a:gd fmla="val 16667" name="adj"/>
              </a:avLst>
            </a:prstGeom>
            <a:solidFill>
              <a:srgbClr val="C47F6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4"/>
            <p:cNvSpPr txBox="1"/>
            <p:nvPr/>
          </p:nvSpPr>
          <p:spPr>
            <a:xfrm>
              <a:off x="31070" y="2114935"/>
              <a:ext cx="4713795" cy="5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Interoperable Multi-Chain Ecosystems:</a:t>
              </a: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Polkadot, Cosmos, Avalanche subnets.</a:t>
              </a: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0" y="2766425"/>
              <a:ext cx="4775935" cy="636480"/>
            </a:xfrm>
            <a:prstGeom prst="roundRect">
              <a:avLst>
                <a:gd fmla="val 16667" name="adj"/>
              </a:avLst>
            </a:prstGeom>
            <a:solidFill>
              <a:srgbClr val="B38E8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4"/>
            <p:cNvSpPr txBox="1"/>
            <p:nvPr/>
          </p:nvSpPr>
          <p:spPr>
            <a:xfrm>
              <a:off x="31070" y="2797495"/>
              <a:ext cx="4713795" cy="5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RegTech Integration:</a:t>
              </a: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Compliance automation for financial and healthcare sectors.</a:t>
              </a: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0" y="3448985"/>
              <a:ext cx="4775935" cy="636480"/>
            </a:xfrm>
            <a:prstGeom prst="roundRect">
              <a:avLst>
                <a:gd fmla="val 16667" name="adj"/>
              </a:avLst>
            </a:prstGeom>
            <a:solidFill>
              <a:srgbClr val="A4A4A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4"/>
            <p:cNvSpPr txBox="1"/>
            <p:nvPr/>
          </p:nvSpPr>
          <p:spPr>
            <a:xfrm>
              <a:off x="31070" y="3480055"/>
              <a:ext cx="4713795" cy="5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rPr b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 Identity (DID):</a:t>
              </a:r>
              <a:r>
                <a:rPr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User-controlled digital identities anchored on blockchain.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>
            <p:ph type="title"/>
          </p:nvPr>
        </p:nvSpPr>
        <p:spPr>
          <a:xfrm>
            <a:off x="628650" y="273843"/>
            <a:ext cx="7886700" cy="994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01777" y="1258029"/>
            <a:ext cx="8140446" cy="13716"/>
          </a:xfrm>
          <a:custGeom>
            <a:rect b="b" l="l" r="r" t="t"/>
            <a:pathLst>
              <a:path extrusionOk="0" fill="none" h="13716" w="8140446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extrusionOk="0" h="13716" w="8140446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 txBox="1"/>
          <p:nvPr>
            <p:ph idx="1" type="body"/>
          </p:nvPr>
        </p:nvSpPr>
        <p:spPr>
          <a:xfrm>
            <a:off x="628650" y="1447038"/>
            <a:ext cx="7886700" cy="318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700"/>
              <a:t>Blockchain at the advanced level represents a fusion of distributed computing, cryptography, and economics.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700"/>
              <a:t>The technology continues to evolve toward scalable, private, and interoperable architectures, driving the foundation for Web 3.0, decentralized governance, and autonomous data systems.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700"/>
              <a:t>Future innovations will focus on inter-chain collaboration, privacy-by-design, and quantum-safe cryptography—ensuring blockchain’s relevance in secure digital transformation.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Calibri"/>
              <a:buNone/>
            </a:pPr>
            <a:r>
              <a:rPr b="1" lang="en-US"/>
              <a:t>Learning Assessment Question 1</a:t>
            </a:r>
            <a:endParaRPr/>
          </a:p>
        </p:txBody>
      </p:sp>
      <p:sp>
        <p:nvSpPr>
          <p:cNvPr id="286" name="Google Shape;286;p26"/>
          <p:cNvSpPr txBox="1"/>
          <p:nvPr>
            <p:ph idx="1" type="body"/>
          </p:nvPr>
        </p:nvSpPr>
        <p:spPr>
          <a:xfrm>
            <a:off x="311700" y="1983512"/>
            <a:ext cx="723210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does Byzantine Fault Tolerance mean in blockchain?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The ability of the network to function even if some nodes act maliciously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The process of encrypting private keys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 method of distributing coins equally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The rule that limits transaction fees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Calibri"/>
              <a:buNone/>
            </a:pPr>
            <a:r>
              <a:rPr b="1" lang="en-US"/>
              <a:t>Question 2</a:t>
            </a:r>
            <a:endParaRPr/>
          </a:p>
        </p:txBody>
      </p:sp>
      <p:sp>
        <p:nvSpPr>
          <p:cNvPr id="292" name="Google Shape;292;p27"/>
          <p:cNvSpPr txBox="1"/>
          <p:nvPr>
            <p:ph idx="1" type="body"/>
          </p:nvPr>
        </p:nvSpPr>
        <p:spPr>
          <a:xfrm>
            <a:off x="311700" y="1983512"/>
            <a:ext cx="628890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purpose of Zero-Knowledge Proofs (ZKPs)?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To allow users to prove information without revealing 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To mine coins faster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To store passwords securely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To track user identity across blockchains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Calibri"/>
              <a:buNone/>
            </a:pPr>
            <a:r>
              <a:rPr b="1" lang="en-US"/>
              <a:t>Question 3</a:t>
            </a:r>
            <a:endParaRPr/>
          </a:p>
        </p:txBody>
      </p:sp>
      <p:sp>
        <p:nvSpPr>
          <p:cNvPr id="298" name="Google Shape;298;p28"/>
          <p:cNvSpPr txBox="1"/>
          <p:nvPr>
            <p:ph idx="1" type="body"/>
          </p:nvPr>
        </p:nvSpPr>
        <p:spPr>
          <a:xfrm>
            <a:off x="311700" y="1983512"/>
            <a:ext cx="8161209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of the following helps blockchains communicate with each other?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Firewalls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b) Interoperability protocols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Proof-of-Stake validators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Hash algorithms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Calibri"/>
              <a:buNone/>
            </a:pPr>
            <a:r>
              <a:rPr b="1" lang="en-US"/>
              <a:t>Question 4</a:t>
            </a:r>
            <a:endParaRPr/>
          </a:p>
        </p:txBody>
      </p:sp>
      <p:sp>
        <p:nvSpPr>
          <p:cNvPr id="304" name="Google Shape;304;p29"/>
          <p:cNvSpPr txBox="1"/>
          <p:nvPr>
            <p:ph idx="1" type="body"/>
          </p:nvPr>
        </p:nvSpPr>
        <p:spPr>
          <a:xfrm>
            <a:off x="311700" y="1983512"/>
            <a:ext cx="793640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meant by “Layer 2” in blockchain technology?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An application built on top of a base blockchain to improve speed and scalability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A data backup file for blockchain transactions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A hardware device for storing coins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A new type of blockchain programming language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4276"/>
              <a:buFont typeface="Calibri"/>
              <a:buNone/>
            </a:pPr>
            <a:r>
              <a:rPr b="1" lang="en-US"/>
              <a:t>Question 5</a:t>
            </a:r>
            <a:endParaRPr/>
          </a:p>
        </p:txBody>
      </p:sp>
      <p:sp>
        <p:nvSpPr>
          <p:cNvPr id="310" name="Google Shape;310;p30"/>
          <p:cNvSpPr txBox="1"/>
          <p:nvPr>
            <p:ph idx="1" type="body"/>
          </p:nvPr>
        </p:nvSpPr>
        <p:spPr>
          <a:xfrm>
            <a:off x="311700" y="1706513"/>
            <a:ext cx="721242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problem does the “Blockchain Trilemma” describe?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a) The difficulty of balancing decentralization, scalability, and security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b) The issue of mining coins too quickly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c) The problem of storing large data on one node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d) The challenge of converting cryptocurrencies to cash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